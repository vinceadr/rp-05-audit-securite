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138160" y="0"/>
            <a:ext cx="4053535" cy="6858000"/>
          </a:xfrm>
          <a:prstGeom prst="rect">
            <a:avLst/>
          </a:prstGeom>
          <a:solidFill>
            <a:srgbClr val="08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65008" y="0"/>
            <a:ext cx="9144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92608"/>
            <a:ext cx="7498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F8C8D"/>
                </a:solidFill>
                <a:latin typeface="Calibri"/>
              </a:rPr>
              <a:t>EPREUVE E6  -  RP-05  -  BTS SIO SISR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13232"/>
            <a:ext cx="3474720" cy="457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74980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Audit et Securisation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37360"/>
            <a:ext cx="74980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6E9EE0"/>
                </a:solidFill>
                <a:latin typeface="Calibri"/>
              </a:rPr>
              <a:t>de l'Infrastructure IRIS Nice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542032"/>
            <a:ext cx="3200400" cy="457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633472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ANDREO Vincent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18688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F8C8D"/>
                </a:solidFill>
                <a:latin typeface="Calibri"/>
              </a:rPr>
              <a:t>BTS SIO SISR  -  IRIS Nice (Mediaschool)  -  Mars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840480"/>
            <a:ext cx="5303520" cy="384048"/>
          </a:xfrm>
          <a:prstGeom prst="rect">
            <a:avLst/>
          </a:prstGeom>
          <a:solidFill>
            <a:srgbClr val="223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 rIns="73152"/>
          <a:lstStyle/>
          <a:p>
            <a:pPr algn="l"/>
            <a:r>
              <a:rPr sz="1300" b="0" i="0">
                <a:solidFill>
                  <a:srgbClr val="AACCFF"/>
                </a:solidFill>
                <a:latin typeface="Calibri"/>
              </a:rPr>
              <a:t>Ref : IRIS-NICE-2026-RP05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21040" y="320040"/>
            <a:ext cx="3520440" cy="1371600"/>
          </a:xfrm>
          <a:prstGeom prst="rect">
            <a:avLst/>
          </a:prstGeom>
          <a:solidFill>
            <a:srgbClr val="15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21040" y="320040"/>
            <a:ext cx="64008" cy="13716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85632" y="4114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  <a:latin typeface="Calibri"/>
              </a:rPr>
              <a:t>MISSION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85632" y="70408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Audit de securite complet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5632" y="114300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F8C8D"/>
                </a:solidFill>
                <a:latin typeface="Calibri"/>
              </a:rPr>
              <a:t>Infrastructure IRIS Nice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21040" y="1938528"/>
            <a:ext cx="3520440" cy="1371600"/>
          </a:xfrm>
          <a:prstGeom prst="rect">
            <a:avLst/>
          </a:prstGeom>
          <a:solidFill>
            <a:srgbClr val="15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21040" y="1938528"/>
            <a:ext cx="64008" cy="13716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85632" y="202996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  <a:latin typeface="Calibri"/>
              </a:rPr>
              <a:t>PERIMETRE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85632" y="2322576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VLAN, Serveurs, Wi-Fi, KVM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85632" y="276148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F8C8D"/>
                </a:solidFill>
                <a:latin typeface="Calibri"/>
              </a:rPr>
              <a:t>4 zones reseau + DMZ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21040" y="3557016"/>
            <a:ext cx="3520440" cy="1371600"/>
          </a:xfrm>
          <a:prstGeom prst="rect">
            <a:avLst/>
          </a:prstGeom>
          <a:solidFill>
            <a:srgbClr val="15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321040" y="3557016"/>
            <a:ext cx="64008" cy="13716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85632" y="364845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  <a:latin typeface="Calibri"/>
              </a:rPr>
              <a:t>OUTILS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85632" y="3941064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Nmap - OpenVAS - Lynis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85632" y="437997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F8C8D"/>
                </a:solidFill>
                <a:latin typeface="Calibri"/>
              </a:rPr>
              <a:t>CIS-CAT Lite - Wapiti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21040" y="5175504"/>
            <a:ext cx="3520440" cy="1371600"/>
          </a:xfrm>
          <a:prstGeom prst="rect">
            <a:avLst/>
          </a:prstGeom>
          <a:solidFill>
            <a:srgbClr val="15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321040" y="5175504"/>
            <a:ext cx="64008" cy="13716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85632" y="526694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  <a:latin typeface="Calibri"/>
              </a:rPr>
              <a:t>DEADLINE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85632" y="555955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28 / 03 /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85632" y="599846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F8C8D"/>
                </a:solidFill>
                <a:latin typeface="Calibri"/>
              </a:rPr>
              <a:t>9 livrables produits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08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63367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F8C8D"/>
                </a:solidFill>
                <a:latin typeface="Calibri"/>
              </a:rPr>
              <a:t>BTS SIO SISR  |  Option SISR  |  Session 2026  |  Epreuve E6 - Realisation Professionnelle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565392"/>
            <a:ext cx="109728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7F8C8D"/>
                </a:solidFill>
                <a:latin typeface="Calibri"/>
              </a:rPr>
              <a:t>1/15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64592" rIns="73152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Contexte — IRIS Nice et l'Infrastructure Existante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4300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1">
                <a:solidFill>
                  <a:srgbClr val="7F8C8D"/>
                </a:solidFill>
                <a:latin typeface="Calibri"/>
              </a:rPr>
              <a:t>Une infrastructure utilisee depuis 4 ans, jamais auditee en securite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508760"/>
            <a:ext cx="5577840" cy="32918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rIns="73152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Etablissement IRIS Nice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837944"/>
            <a:ext cx="5577840" cy="1911096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rIns="73152"/>
          <a:lstStyle/>
          <a:p>
            <a:pPr algn="l"/>
            <a:r>
              <a:rPr sz="1300" b="0" i="0">
                <a:solidFill>
                  <a:srgbClr val="2C3E50"/>
                </a:solidFill>
                <a:latin typeface="Calibri"/>
              </a:rPr>
              <a:t>  Ecole superieure IRIS Nice (Mediaschool)</a:t>
            </a:r>
          </a:p>
          <a:p>
            <a:pPr algn="l"/>
            <a:r>
              <a:rPr sz="1300" b="0" i="0">
                <a:solidFill>
                  <a:srgbClr val="2C3E50"/>
                </a:solidFill>
                <a:latin typeface="Calibri"/>
              </a:rPr>
              <a:t>  Formations BTS, Bachelor, Master informatique</a:t>
            </a:r>
          </a:p>
          <a:p>
            <a:pPr algn="l"/>
            <a:r>
              <a:rPr sz="1300" b="0" i="0">
                <a:solidFill>
                  <a:srgbClr val="2C3E50"/>
                </a:solidFill>
                <a:latin typeface="Calibri"/>
              </a:rPr>
              <a:t>  ~400 etudiants, 40 enseignants, 8 techniciens</a:t>
            </a:r>
          </a:p>
          <a:p>
            <a:pPr algn="l"/>
            <a:r>
              <a:rPr sz="1300" b="0" i="0">
                <a:solidFill>
                  <a:srgbClr val="2C3E50"/>
                </a:solidFill>
                <a:latin typeface="Calibri"/>
              </a:rPr>
              <a:t>  Infrastructure reseau dediee mise en service 2020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3913632"/>
            <a:ext cx="5577840" cy="329184"/>
          </a:xfrm>
          <a:prstGeom prst="rect">
            <a:avLst/>
          </a:prstGeom>
          <a:solidFill>
            <a:srgbClr val="223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rIns="73152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4 RP precedentes — contexte accumulé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4242816"/>
            <a:ext cx="5577840" cy="2048256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rIns="73152"/>
          <a:lstStyle/>
          <a:p>
            <a:pPr algn="l"/>
            <a:r>
              <a:rPr sz="1300" b="0" i="0">
                <a:solidFill>
                  <a:srgbClr val="2C3E50"/>
                </a:solidFill>
                <a:latin typeface="Calibri"/>
              </a:rPr>
              <a:t>  RP-01 : Installation serveurs Linux/Windows</a:t>
            </a:r>
          </a:p>
          <a:p>
            <a:pPr algn="l"/>
            <a:r>
              <a:rPr sz="1300" b="0" i="0">
                <a:solidFill>
                  <a:srgbClr val="2C3E50"/>
                </a:solidFill>
                <a:latin typeface="Calibri"/>
              </a:rPr>
              <a:t>  RP-02 : Configuration reseau Cisco (VLAN/Trunk)</a:t>
            </a:r>
          </a:p>
          <a:p>
            <a:pPr algn="l"/>
            <a:r>
              <a:rPr sz="1300" b="0" i="0">
                <a:solidFill>
                  <a:srgbClr val="2C3E50"/>
                </a:solidFill>
                <a:latin typeface="Calibri"/>
              </a:rPr>
              <a:t>  RP-03 : Deploiement hyperviseur KVM</a:t>
            </a:r>
          </a:p>
          <a:p>
            <a:pPr algn="l"/>
            <a:r>
              <a:rPr sz="1300" b="0" i="0">
                <a:solidFill>
                  <a:srgbClr val="2C3E50"/>
                </a:solidFill>
                <a:latin typeface="Calibri"/>
              </a:rPr>
              <a:t>  RP-04 : Mise en place Active Directory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1508760"/>
            <a:ext cx="5852160" cy="32918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rIns="73152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Architecture reseau actuelle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1837944"/>
            <a:ext cx="5852160" cy="2505456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rIns="73152"/>
          <a:lstStyle/>
          <a:p>
            <a:pPr algn="l"/>
            <a:r>
              <a:rPr sz="1300" b="0" i="0">
                <a:solidFill>
                  <a:srgbClr val="2C3E50"/>
                </a:solidFill>
                <a:latin typeface="Calibri"/>
              </a:rPr>
              <a:t>  VLAN 10 — 192.168.10.0/24  (Administration)</a:t>
            </a:r>
          </a:p>
          <a:p>
            <a:pPr algn="l"/>
            <a:r>
              <a:rPr sz="1300" b="0" i="0">
                <a:solidFill>
                  <a:srgbClr val="2C3E50"/>
                </a:solidFill>
                <a:latin typeface="Calibri"/>
              </a:rPr>
              <a:t>  VLAN 20 — 192.168.20.0/24  (Enseignants)</a:t>
            </a:r>
          </a:p>
          <a:p>
            <a:pPr algn="l"/>
            <a:r>
              <a:rPr sz="1300" b="0" i="0">
                <a:solidFill>
                  <a:srgbClr val="2C3E50"/>
                </a:solidFill>
                <a:latin typeface="Calibri"/>
              </a:rPr>
              <a:t>  VLAN 30 — 192.168.30.0/23  (Etudiants)</a:t>
            </a:r>
          </a:p>
          <a:p>
            <a:pPr algn="l"/>
            <a:r>
              <a:rPr sz="1300" b="0" i="0">
                <a:solidFill>
                  <a:srgbClr val="2C3E50"/>
                </a:solidFill>
                <a:latin typeface="Calibri"/>
              </a:rPr>
              <a:t>  VLAN 40 — 192.168.40.0/24  (Serveurs)</a:t>
            </a:r>
          </a:p>
          <a:p>
            <a:pPr algn="l"/>
            <a:r>
              <a:rPr sz="1300" b="0" i="0">
                <a:solidFill>
                  <a:srgbClr val="2C3E50"/>
                </a:solidFill>
                <a:latin typeface="Calibri"/>
              </a:rPr>
              <a:t>  Acces Wi-Fi pour etudiants et enseignants</a:t>
            </a:r>
          </a:p>
          <a:p>
            <a:pPr algn="l"/>
            <a:r>
              <a:rPr sz="1300" b="0" i="0">
                <a:solidFill>
                  <a:srgbClr val="2C3E50"/>
                </a:solidFill>
                <a:latin typeface="Calibri"/>
              </a:rPr>
              <a:t>  Hyperviseur KVM — 12 VMs en production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4507992"/>
            <a:ext cx="5852160" cy="1783080"/>
          </a:xfrm>
          <a:prstGeom prst="rect">
            <a:avLst/>
          </a:prstGeom>
          <a:solidFill>
            <a:srgbClr val="FDEDEC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 rIns="73152"/>
          <a:lstStyle/>
          <a:p>
            <a:pPr algn="l"/>
            <a:r>
              <a:rPr sz="1400" b="1" i="0">
                <a:solidFill>
                  <a:srgbClr val="C0392B"/>
                </a:solidFill>
                <a:latin typeface="Calibri"/>
              </a:rPr>
              <a:t>Problematique identifiee</a:t>
            </a:r>
          </a:p>
          <a:p>
            <a:pPr algn="l"/>
            <a:r>
              <a:rPr sz="1300" b="0" i="0">
                <a:solidFill>
                  <a:srgbClr val="2C3E50"/>
                </a:solidFill>
                <a:latin typeface="Calibri"/>
              </a:rPr>
              <a:t>  Aucun audit de securite realise en 4 ans</a:t>
            </a:r>
          </a:p>
          <a:p>
            <a:pPr algn="l"/>
            <a:r>
              <a:rPr sz="1300" b="0" i="0">
                <a:solidFill>
                  <a:srgbClr val="2C3E50"/>
                </a:solidFill>
                <a:latin typeface="Calibri"/>
              </a:rPr>
              <a:t>  Vulnerabilites potentielles inconnues</a:t>
            </a:r>
          </a:p>
          <a:p>
            <a:pPr algn="l"/>
            <a:r>
              <a:rPr sz="1300" b="0" i="0">
                <a:solidFill>
                  <a:srgbClr val="2C3E50"/>
                </a:solidFill>
                <a:latin typeface="Calibri"/>
              </a:rPr>
              <a:t>  Politiques de securite absentes/obsoletes</a:t>
            </a:r>
          </a:p>
          <a:p>
            <a:pPr algn="l"/>
            <a:r>
              <a:rPr sz="1300" b="1" i="0">
                <a:solidFill>
                  <a:srgbClr val="C0392B"/>
                </a:solidFill>
                <a:latin typeface="Calibri"/>
              </a:rPr>
              <a:t>  Mission RP-05 : evaluer et remedier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565392"/>
            <a:ext cx="109728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7F8C8D"/>
                </a:solidFill>
                <a:latin typeface="Calibri"/>
              </a:rPr>
              <a:t>2/15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64592" rIns="73152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Mission RP-05 — Perimetre et Objectifs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4300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1">
                <a:solidFill>
                  <a:srgbClr val="7F8C8D"/>
                </a:solidFill>
                <a:latin typeface="Calibri"/>
              </a:rPr>
              <a:t>Epreuve E6 — Realisation Professionnelle | Deadline : 28/03/2026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508760"/>
            <a:ext cx="3657600" cy="32918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rIns="73152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01  AUDITER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837944"/>
            <a:ext cx="3657600" cy="2185416"/>
          </a:xfrm>
          <a:prstGeom prst="rect">
            <a:avLst/>
          </a:prstGeom>
          <a:solidFill>
            <a:srgbClr val="EBF2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rIns="73152"/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  Scanner tous les equipements reseau</a:t>
            </a:r>
          </a:p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  Identifier les CVE et vulnerabilites</a:t>
            </a:r>
          </a:p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  Evaluer la conformite CIS/ANSSI</a:t>
            </a:r>
          </a:p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  Outils : Nmap, OpenVAS, Lynis</a:t>
            </a:r>
          </a:p>
        </p:txBody>
      </p:sp>
      <p:sp>
        <p:nvSpPr>
          <p:cNvPr id="7" name="Rectangle 6"/>
          <p:cNvSpPr/>
          <p:nvPr/>
        </p:nvSpPr>
        <p:spPr>
          <a:xfrm>
            <a:off x="4251959" y="1508760"/>
            <a:ext cx="3657600" cy="32918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rIns="73152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02  SECURISER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1959" y="1837944"/>
            <a:ext cx="3657600" cy="2185416"/>
          </a:xfrm>
          <a:prstGeom prst="rect">
            <a:avLst/>
          </a:prstGeom>
          <a:solidFill>
            <a:srgbClr val="EBF2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rIns="73152"/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  Deployer pfSense comme pare-feu</a:t>
            </a:r>
          </a:p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  Mettre en place la DMZ isolee</a:t>
            </a:r>
          </a:p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  Politique deny-all par defaut</a:t>
            </a:r>
          </a:p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  Segmenter les zones de confiance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0" y="1508760"/>
            <a:ext cx="3657600" cy="32918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rIns="73152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03  DURCIR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1837944"/>
            <a:ext cx="3657600" cy="2185416"/>
          </a:xfrm>
          <a:prstGeom prst="rect">
            <a:avLst/>
          </a:prstGeom>
          <a:solidFill>
            <a:srgbClr val="EBF2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rIns="73152"/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  CIS Benchmark Linux Level 1 &amp; 2</a:t>
            </a:r>
          </a:p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  GPOs ANSSI Windows Server 2022</a:t>
            </a:r>
          </a:p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  Desactiver SMBv1/Telnet/LLMNR</a:t>
            </a:r>
          </a:p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  Appliquer 53 controles de securite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4187952"/>
            <a:ext cx="11612880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 rIns="73152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PERIMETRE — Equipements dans le scope de la mission RP-05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4535424"/>
            <a:ext cx="1161288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4572000"/>
            <a:ext cx="3200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Calibri"/>
              </a:rPr>
              <a:t>Firewall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4572000"/>
            <a:ext cx="8229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pfSense 2.7 — nouveau deploiement sur VM dediee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873752"/>
            <a:ext cx="11612880" cy="338328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4910328"/>
            <a:ext cx="3200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Calibri"/>
              </a:rPr>
              <a:t>Commutateurs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4910328"/>
            <a:ext cx="8229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Cisco Catalyst 2960 x3 — VLAN 10/20/30/40 (802.1q)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5212080"/>
            <a:ext cx="1161288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5248656"/>
            <a:ext cx="3200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Calibri"/>
              </a:rPr>
              <a:t>Serveurs Linux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5248656"/>
            <a:ext cx="8229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Ubuntu 22.04 LTS x4 — AD/Web/DHCP/NFS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5550408"/>
            <a:ext cx="11612880" cy="338328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5586984"/>
            <a:ext cx="3200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Calibri"/>
              </a:rPr>
              <a:t>Serveurs Windows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5586984"/>
            <a:ext cx="8229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Windows Server 2022 x2 — Active Directory + Fichiers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5888736"/>
            <a:ext cx="1161288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5925312"/>
            <a:ext cx="3200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Calibri"/>
              </a:rPr>
              <a:t>Points d'acces Wi-Fi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5925312"/>
            <a:ext cx="8229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Cisco Meraki x6 — SSID etudiants et personnel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6227064"/>
            <a:ext cx="11612880" cy="338328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6263640"/>
            <a:ext cx="3200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Calibri"/>
              </a:rPr>
              <a:t>Hyperviseur KVM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6263640"/>
            <a:ext cx="8229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Proxmox VE 7.4 — 12 VMs en production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565392"/>
            <a:ext cx="109728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7F8C8D"/>
                </a:solidFill>
                <a:latin typeface="Calibri"/>
              </a:rPr>
              <a:t>3/15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64592" rIns="73152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Phase 1 — Audit Initial : Outils Utilises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4300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1">
                <a:solidFill>
                  <a:srgbClr val="7F8C8D"/>
                </a:solidFill>
                <a:latin typeface="Calibri"/>
              </a:rPr>
              <a:t>5 outils complementaires pour une couverture exhaustive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508760"/>
            <a:ext cx="2240280" cy="38404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54864" rIns="73152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NMAP 7.94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892807"/>
            <a:ext cx="2240280" cy="322783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64008" rIns="73152"/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  Scan complet ports TCP/UDP</a:t>
            </a:r>
          </a:p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  Detection OS + versions services</a:t>
            </a:r>
          </a:p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  Scripts NSE vulnerabilites</a:t>
            </a:r>
          </a:p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  Plage : 192.168.0.0/16 + DMZ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2240280" cy="457200"/>
          </a:xfrm>
          <a:prstGeom prst="rect">
            <a:avLst/>
          </a:prstGeom>
          <a:solidFill>
            <a:srgbClr val="D5F5E3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tIns="73152" rIns="73152"/>
          <a:lstStyle/>
          <a:p>
            <a:pPr algn="l"/>
            <a:r>
              <a:rPr sz="1100" b="1" i="0">
                <a:solidFill>
                  <a:srgbClr val="1A7348"/>
                </a:solidFill>
                <a:latin typeface="Calibri"/>
              </a:rPr>
              <a:t>847 ports ouverts recenses</a:t>
            </a:r>
          </a:p>
        </p:txBody>
      </p:sp>
      <p:sp>
        <p:nvSpPr>
          <p:cNvPr id="8" name="Rectangle 7"/>
          <p:cNvSpPr/>
          <p:nvPr/>
        </p:nvSpPr>
        <p:spPr>
          <a:xfrm>
            <a:off x="2625242" y="1508760"/>
            <a:ext cx="2240280" cy="384048"/>
          </a:xfrm>
          <a:prstGeom prst="rect">
            <a:avLst/>
          </a:prstGeom>
          <a:solidFill>
            <a:srgbClr val="156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54864" rIns="73152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OPENVAS / GREENBONE</a:t>
            </a:r>
          </a:p>
        </p:txBody>
      </p:sp>
      <p:sp>
        <p:nvSpPr>
          <p:cNvPr id="9" name="Rectangle 8"/>
          <p:cNvSpPr/>
          <p:nvPr/>
        </p:nvSpPr>
        <p:spPr>
          <a:xfrm>
            <a:off x="2625242" y="1892807"/>
            <a:ext cx="2240280" cy="322783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64008" rIns="73152"/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  Scanner CVE (80 000+ signatures)</a:t>
            </a:r>
          </a:p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  Scan authentifie + non-authentifie</a:t>
            </a:r>
          </a:p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  Rapports CVSS v3 detailles</a:t>
            </a:r>
          </a:p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  Tableaux de bord par criticite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25242" y="5120640"/>
            <a:ext cx="2240280" cy="457200"/>
          </a:xfrm>
          <a:prstGeom prst="rect">
            <a:avLst/>
          </a:prstGeom>
          <a:solidFill>
            <a:srgbClr val="D5F5E3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tIns="73152" rIns="73152"/>
          <a:lstStyle/>
          <a:p>
            <a:pPr algn="l"/>
            <a:r>
              <a:rPr sz="1100" b="1" i="0">
                <a:solidFill>
                  <a:srgbClr val="1A7348"/>
                </a:solidFill>
                <a:latin typeface="Calibri"/>
              </a:rPr>
              <a:t>38 vuln. dont 8 critiques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76164" y="1508760"/>
            <a:ext cx="2240280" cy="384048"/>
          </a:xfrm>
          <a:prstGeom prst="rect">
            <a:avLst/>
          </a:prstGeom>
          <a:solidFill>
            <a:srgbClr val="A02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54864" rIns="73152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LYNIS 3.0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76164" y="1892807"/>
            <a:ext cx="2240280" cy="322783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64008" rIns="73152"/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  Audit durcissement systemes Unix</a:t>
            </a:r>
          </a:p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  Verification politiques systeme</a:t>
            </a:r>
          </a:p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  Controles fichiers conf. + logs</a:t>
            </a:r>
          </a:p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  Hardening Index calcule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76164" y="5120640"/>
            <a:ext cx="2240280" cy="457200"/>
          </a:xfrm>
          <a:prstGeom prst="rect">
            <a:avLst/>
          </a:prstGeom>
          <a:solidFill>
            <a:srgbClr val="D5F5E3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tIns="73152" rIns="73152"/>
          <a:lstStyle/>
          <a:p>
            <a:pPr algn="l"/>
            <a:r>
              <a:rPr sz="1100" b="1" i="0">
                <a:solidFill>
                  <a:srgbClr val="1A7348"/>
                </a:solidFill>
                <a:latin typeface="Calibri"/>
              </a:rPr>
              <a:t>Score initial : 58 / 100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27086" y="1508760"/>
            <a:ext cx="2240280" cy="384048"/>
          </a:xfrm>
          <a:prstGeom prst="rect">
            <a:avLst/>
          </a:prstGeom>
          <a:solidFill>
            <a:srgbClr val="0B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54864" rIns="73152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CIS-CAT LITE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27086" y="1892807"/>
            <a:ext cx="2240280" cy="322783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64008" rIns="73152"/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  Benchmarks CIS Level 1 &amp; 2</a:t>
            </a:r>
          </a:p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  Windows Server 2022 + Ubuntu 22.04</a:t>
            </a:r>
          </a:p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  441 controles de conformite</a:t>
            </a:r>
          </a:p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  Rapports HTML exportes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27086" y="5120640"/>
            <a:ext cx="2240280" cy="457200"/>
          </a:xfrm>
          <a:prstGeom prst="rect">
            <a:avLst/>
          </a:prstGeom>
          <a:solidFill>
            <a:srgbClr val="D5F5E3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tIns="73152" rIns="73152"/>
          <a:lstStyle/>
          <a:p>
            <a:pPr algn="l"/>
            <a:r>
              <a:rPr sz="1100" b="1" i="0">
                <a:solidFill>
                  <a:srgbClr val="1A7348"/>
                </a:solidFill>
                <a:latin typeface="Calibri"/>
              </a:rPr>
              <a:t>Windows : 41.7% initial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78008" y="1508760"/>
            <a:ext cx="2240280" cy="384048"/>
          </a:xfrm>
          <a:prstGeom prst="rect">
            <a:avLst/>
          </a:prstGeom>
          <a:solidFill>
            <a:srgbClr val="550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54864" rIns="73152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WAPITI 3.1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78008" y="1892807"/>
            <a:ext cx="2240280" cy="322783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64008" rIns="73152"/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  Scanner web OWASP Top 10</a:t>
            </a:r>
          </a:p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  SQLi, XSS, LFI, RFI...</a:t>
            </a:r>
          </a:p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  Portail intranet IRIS Nice</a:t>
            </a:r>
          </a:p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  Crawling automatique des pages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78008" y="5120640"/>
            <a:ext cx="2240280" cy="457200"/>
          </a:xfrm>
          <a:prstGeom prst="rect">
            <a:avLst/>
          </a:prstGeom>
          <a:solidFill>
            <a:srgbClr val="D5F5E3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tIns="73152" rIns="73152"/>
          <a:lstStyle/>
          <a:p>
            <a:pPr algn="l"/>
            <a:r>
              <a:rPr sz="1100" b="1" i="0">
                <a:solidFill>
                  <a:srgbClr val="1A7348"/>
                </a:solidFill>
                <a:latin typeface="Calibri"/>
              </a:rPr>
              <a:t>6 failles web detectees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565392"/>
            <a:ext cx="109728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7F8C8D"/>
                </a:solidFill>
                <a:latin typeface="Calibri"/>
              </a:rPr>
              <a:t>4/15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64592" rIns="73152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Phase 1 — Resultats de l'Audit : Synthese des Vulnerabilites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4300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1">
                <a:solidFill>
                  <a:srgbClr val="7F8C8D"/>
                </a:solidFill>
                <a:latin typeface="Calibri"/>
              </a:rPr>
              <a:t>38 vulnerabilites identifiees — classees par niveau CVSS v3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508760"/>
            <a:ext cx="2743200" cy="10515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36576" rIns="73152"/>
          <a:lstStyle/>
          <a:p>
            <a:pPr algn="ctr"/>
            <a:r>
              <a:rPr sz="4600" b="1" i="0">
                <a:solidFill>
                  <a:srgbClr val="FFFFFF"/>
                </a:solidFill>
                <a:latin typeface="Calibri"/>
              </a:rPr>
              <a:t>8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CRITIQUES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560320"/>
            <a:ext cx="2743200" cy="3639312"/>
          </a:xfrm>
          <a:prstGeom prst="rect">
            <a:avLst/>
          </a:prstGeom>
          <a:solidFill>
            <a:srgbClr val="FDEDEC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rIns="73152"/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  EternalBlue (CVE-2017-0144)</a:t>
            </a:r>
          </a:p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  Log4Shell (CVE-2021-44228)</a:t>
            </a:r>
          </a:p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  Telnet actif sur switchs Cisco</a:t>
            </a:r>
          </a:p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  Mots de passe SSH par defaut</a:t>
            </a:r>
          </a:p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  CVSS &gt;= 9.0</a:t>
            </a:r>
          </a:p>
        </p:txBody>
      </p:sp>
      <p:sp>
        <p:nvSpPr>
          <p:cNvPr id="7" name="Rectangle 6"/>
          <p:cNvSpPr/>
          <p:nvPr/>
        </p:nvSpPr>
        <p:spPr>
          <a:xfrm>
            <a:off x="3227832" y="1508760"/>
            <a:ext cx="2743200" cy="1051560"/>
          </a:xfrm>
          <a:prstGeom prst="rect">
            <a:avLst/>
          </a:prstGeom>
          <a:solidFill>
            <a:srgbClr val="E26B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36576" rIns="73152"/>
          <a:lstStyle/>
          <a:p>
            <a:pPr algn="ctr"/>
            <a:r>
              <a:rPr sz="4600" b="1" i="0">
                <a:solidFill>
                  <a:srgbClr val="FFFFFF"/>
                </a:solidFill>
                <a:latin typeface="Calibri"/>
              </a:rPr>
              <a:t>12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ELEVEES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27832" y="2560320"/>
            <a:ext cx="2743200" cy="3639312"/>
          </a:xfrm>
          <a:prstGeom prst="rect">
            <a:avLst/>
          </a:prstGeom>
          <a:solidFill>
            <a:srgbClr val="FDF2E9"/>
          </a:solidFill>
          <a:ln w="19050">
            <a:solidFill>
              <a:srgbClr val="E26B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rIns="73152"/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  OpenSSL 1.0 (fin de vie EOL)</a:t>
            </a:r>
          </a:p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  Apache 2.4.49 (Path Traversal)</a:t>
            </a:r>
          </a:p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  SMBv1 active sur serveurs</a:t>
            </a:r>
          </a:p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  LLMNR non desactive</a:t>
            </a:r>
          </a:p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  CVSS 7.0 - 8.9</a:t>
            </a:r>
          </a:p>
        </p:txBody>
      </p:sp>
      <p:sp>
        <p:nvSpPr>
          <p:cNvPr id="9" name="Rectangle 8"/>
          <p:cNvSpPr/>
          <p:nvPr/>
        </p:nvSpPr>
        <p:spPr>
          <a:xfrm>
            <a:off x="6181344" y="1508760"/>
            <a:ext cx="2743200" cy="105156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36576" rIns="73152"/>
          <a:lstStyle/>
          <a:p>
            <a:pPr algn="ctr"/>
            <a:r>
              <a:rPr sz="4600" b="1" i="0">
                <a:solidFill>
                  <a:srgbClr val="FFFFFF"/>
                </a:solidFill>
                <a:latin typeface="Calibri"/>
              </a:rPr>
              <a:t>14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MOYENNES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81344" y="2560320"/>
            <a:ext cx="2743200" cy="3639312"/>
          </a:xfrm>
          <a:prstGeom prst="rect">
            <a:avLst/>
          </a:prstGeom>
          <a:solidFill>
            <a:srgbClr val="FEF9E7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rIns="73152"/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  SSH root login autorise</a:t>
            </a:r>
          </a:p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  Mots de passe faibles (dict.)</a:t>
            </a:r>
          </a:p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  Certificats TLS auto-signes</a:t>
            </a:r>
          </a:p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  Journalisation insuffisante</a:t>
            </a:r>
          </a:p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  CVSS 4.0 - 6.9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34856" y="1508760"/>
            <a:ext cx="2743200" cy="10515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36576" rIns="73152"/>
          <a:lstStyle/>
          <a:p>
            <a:pPr algn="ctr"/>
            <a:r>
              <a:rPr sz="4600" b="1" i="0">
                <a:solidFill>
                  <a:srgbClr val="FFFFFF"/>
                </a:solidFill>
                <a:latin typeface="Calibri"/>
              </a:rPr>
              <a:t>4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FAIBLES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34856" y="2560320"/>
            <a:ext cx="2743200" cy="3639312"/>
          </a:xfrm>
          <a:prstGeom prst="rect">
            <a:avLst/>
          </a:prstGeom>
          <a:solidFill>
            <a:srgbClr val="D5F5E3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rIns="73152"/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  FTP passif encore accessible</a:t>
            </a:r>
          </a:p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  SSH banner trop verbose</a:t>
            </a:r>
          </a:p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  NTP non configure</a:t>
            </a:r>
          </a:p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  CVSS &lt; 4.0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6291072"/>
            <a:ext cx="11612880" cy="38404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 rIns="73152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TOTAL : 38 vulnerabilites  |  8 critiques  |  12 elevees  |  14 moyennes  |  4 faibles  |  Priorite : 8 critiques corrigees sous 48h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565392"/>
            <a:ext cx="109728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7F8C8D"/>
                </a:solidFill>
                <a:latin typeface="Calibri"/>
              </a:rPr>
              <a:t>5/15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64592" rIns="73152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Matrice des Risques — Top 5 Vulnerabilites Critiques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4300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1">
                <a:solidFill>
                  <a:srgbClr val="7F8C8D"/>
                </a:solidFill>
                <a:latin typeface="Calibri"/>
              </a:rPr>
              <a:t>Evaluation Impact x Probabilite | CVSS v3 | Source : OpenVAS/Greenbone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508760"/>
            <a:ext cx="3200400" cy="365760"/>
          </a:xfrm>
          <a:prstGeom prst="rect">
            <a:avLst/>
          </a:prstGeom>
          <a:solidFill>
            <a:srgbClr val="1B2A4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10896" y="1527048"/>
            <a:ext cx="31272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Vulnerabilite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0" y="1508760"/>
            <a:ext cx="1554480" cy="365760"/>
          </a:xfrm>
          <a:prstGeom prst="rect">
            <a:avLst/>
          </a:prstGeom>
          <a:solidFill>
            <a:srgbClr val="1B2A4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11296" y="1527048"/>
            <a:ext cx="14813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CVE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1508760"/>
            <a:ext cx="731520" cy="365760"/>
          </a:xfrm>
          <a:prstGeom prst="rect">
            <a:avLst/>
          </a:prstGeom>
          <a:solidFill>
            <a:srgbClr val="1B2A4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65776" y="1527048"/>
            <a:ext cx="658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CVSS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720" y="1508760"/>
            <a:ext cx="1371600" cy="365760"/>
          </a:xfrm>
          <a:prstGeom prst="rect">
            <a:avLst/>
          </a:prstGeom>
          <a:solidFill>
            <a:srgbClr val="1B2A4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97296" y="1527048"/>
            <a:ext cx="12984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Probabilite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0" y="1508760"/>
            <a:ext cx="1188720" cy="365760"/>
          </a:xfrm>
          <a:prstGeom prst="rect">
            <a:avLst/>
          </a:prstGeom>
          <a:solidFill>
            <a:srgbClr val="1B2A4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68896" y="1527048"/>
            <a:ext cx="11155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Impact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21040" y="1508760"/>
            <a:ext cx="3383280" cy="365760"/>
          </a:xfrm>
          <a:prstGeom prst="rect">
            <a:avLst/>
          </a:prstGeom>
          <a:solidFill>
            <a:srgbClr val="1B2A4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57616" y="1527048"/>
            <a:ext cx="33101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Action corrective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874519"/>
            <a:ext cx="3200400" cy="685800"/>
          </a:xfrm>
          <a:prstGeom prst="rect">
            <a:avLst/>
          </a:prstGeom>
          <a:solidFill>
            <a:srgbClr val="FDEDE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74720" y="1874519"/>
            <a:ext cx="1554480" cy="685800"/>
          </a:xfrm>
          <a:prstGeom prst="rect">
            <a:avLst/>
          </a:prstGeom>
          <a:solidFill>
            <a:srgbClr val="FDEDE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0" y="1874519"/>
            <a:ext cx="731520" cy="685800"/>
          </a:xfrm>
          <a:prstGeom prst="rect">
            <a:avLst/>
          </a:prstGeom>
          <a:solidFill>
            <a:srgbClr val="FDEDE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760720" y="1874519"/>
            <a:ext cx="1371600" cy="685800"/>
          </a:xfrm>
          <a:prstGeom prst="rect">
            <a:avLst/>
          </a:prstGeom>
          <a:solidFill>
            <a:srgbClr val="FDEDE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0" y="1874519"/>
            <a:ext cx="1188720" cy="685800"/>
          </a:xfrm>
          <a:prstGeom prst="rect">
            <a:avLst/>
          </a:prstGeom>
          <a:solidFill>
            <a:srgbClr val="FDEDE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321040" y="1874519"/>
            <a:ext cx="3383280" cy="685800"/>
          </a:xfrm>
          <a:prstGeom prst="rect">
            <a:avLst/>
          </a:prstGeom>
          <a:solidFill>
            <a:srgbClr val="FDEDE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1929383"/>
            <a:ext cx="310896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3E50"/>
                </a:solidFill>
                <a:latin typeface="Calibri"/>
              </a:rPr>
              <a:t>EternalBlue — SMBv1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0440" y="1929383"/>
            <a:ext cx="14630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F8C8D"/>
                </a:solidFill>
                <a:latin typeface="Calibri"/>
              </a:rPr>
              <a:t>CVE-2017-0144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93208" y="2029967"/>
            <a:ext cx="603504" cy="3657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36576" rIns="73152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9.8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06440" y="1929383"/>
            <a:ext cx="128016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Probable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78040" y="2029967"/>
            <a:ext cx="1097280" cy="3657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36576" rIns="73152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CRITIQUE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1929383"/>
            <a:ext cx="32918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IMMEDIAT — Patcher / Desactiver SMBv1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2560320"/>
            <a:ext cx="3200400" cy="685800"/>
          </a:xfrm>
          <a:prstGeom prst="rect">
            <a:avLst/>
          </a:prstGeom>
          <a:solidFill>
            <a:srgbClr val="FDEDE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474720" y="2560320"/>
            <a:ext cx="1554480" cy="685800"/>
          </a:xfrm>
          <a:prstGeom prst="rect">
            <a:avLst/>
          </a:prstGeom>
          <a:solidFill>
            <a:srgbClr val="FDEDE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29200" y="2560320"/>
            <a:ext cx="731520" cy="685800"/>
          </a:xfrm>
          <a:prstGeom prst="rect">
            <a:avLst/>
          </a:prstGeom>
          <a:solidFill>
            <a:srgbClr val="FDEDE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760720" y="2560320"/>
            <a:ext cx="1371600" cy="685800"/>
          </a:xfrm>
          <a:prstGeom prst="rect">
            <a:avLst/>
          </a:prstGeom>
          <a:solidFill>
            <a:srgbClr val="FDEDE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132320" y="2560320"/>
            <a:ext cx="1188720" cy="685800"/>
          </a:xfrm>
          <a:prstGeom prst="rect">
            <a:avLst/>
          </a:prstGeom>
          <a:solidFill>
            <a:srgbClr val="FDEDE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321040" y="2560320"/>
            <a:ext cx="3383280" cy="685800"/>
          </a:xfrm>
          <a:prstGeom prst="rect">
            <a:avLst/>
          </a:prstGeom>
          <a:solidFill>
            <a:srgbClr val="FDEDE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0040" y="2615184"/>
            <a:ext cx="310896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3E50"/>
                </a:solidFill>
                <a:latin typeface="Calibri"/>
              </a:rPr>
              <a:t>Log4Shell — Java apps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20440" y="2615184"/>
            <a:ext cx="14630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F8C8D"/>
                </a:solidFill>
                <a:latin typeface="Calibri"/>
              </a:rPr>
              <a:t>CVE-2021-44228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93208" y="2715768"/>
            <a:ext cx="603504" cy="3657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36576" rIns="73152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10.0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06440" y="2615184"/>
            <a:ext cx="128016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Possible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178040" y="2715768"/>
            <a:ext cx="1097280" cy="3657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36576" rIns="73152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CRITIQUE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66760" y="2615184"/>
            <a:ext cx="32918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IMMEDIAT — Mettre a jour Log4j &gt;= 2.17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3246120"/>
            <a:ext cx="3200400" cy="685800"/>
          </a:xfrm>
          <a:prstGeom prst="rect">
            <a:avLst/>
          </a:prstGeom>
          <a:solidFill>
            <a:srgbClr val="FDEDE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474720" y="3246120"/>
            <a:ext cx="1554480" cy="685800"/>
          </a:xfrm>
          <a:prstGeom prst="rect">
            <a:avLst/>
          </a:prstGeom>
          <a:solidFill>
            <a:srgbClr val="FDEDE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029200" y="3246120"/>
            <a:ext cx="731520" cy="685800"/>
          </a:xfrm>
          <a:prstGeom prst="rect">
            <a:avLst/>
          </a:prstGeom>
          <a:solidFill>
            <a:srgbClr val="FDEDE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760720" y="3246120"/>
            <a:ext cx="1371600" cy="685800"/>
          </a:xfrm>
          <a:prstGeom prst="rect">
            <a:avLst/>
          </a:prstGeom>
          <a:solidFill>
            <a:srgbClr val="FDEDE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132320" y="3246120"/>
            <a:ext cx="1188720" cy="685800"/>
          </a:xfrm>
          <a:prstGeom prst="rect">
            <a:avLst/>
          </a:prstGeom>
          <a:solidFill>
            <a:srgbClr val="FDEDE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321040" y="3246120"/>
            <a:ext cx="3383280" cy="685800"/>
          </a:xfrm>
          <a:prstGeom prst="rect">
            <a:avLst/>
          </a:prstGeom>
          <a:solidFill>
            <a:srgbClr val="FDEDE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0040" y="3300984"/>
            <a:ext cx="310896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3E50"/>
                </a:solidFill>
                <a:latin typeface="Calibri"/>
              </a:rPr>
              <a:t>Telnet actif (switchs)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520440" y="3300984"/>
            <a:ext cx="14630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F8C8D"/>
                </a:solidFill>
                <a:latin typeface="Calibri"/>
              </a:rPr>
              <a:t>N/A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93208" y="3401568"/>
            <a:ext cx="603504" cy="3657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36576" rIns="73152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9.1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06440" y="3300984"/>
            <a:ext cx="128016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Probable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178040" y="3401568"/>
            <a:ext cx="1097280" cy="3657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36576" rIns="73152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CRITIQUE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66760" y="3300984"/>
            <a:ext cx="32918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IMMEDIAT — Remplacer par SSH v2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" y="3931920"/>
            <a:ext cx="3200400" cy="685800"/>
          </a:xfrm>
          <a:prstGeom prst="rect">
            <a:avLst/>
          </a:prstGeom>
          <a:solidFill>
            <a:srgbClr val="FDF2E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474720" y="3931920"/>
            <a:ext cx="1554480" cy="685800"/>
          </a:xfrm>
          <a:prstGeom prst="rect">
            <a:avLst/>
          </a:prstGeom>
          <a:solidFill>
            <a:srgbClr val="FDF2E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029200" y="3931920"/>
            <a:ext cx="731520" cy="685800"/>
          </a:xfrm>
          <a:prstGeom prst="rect">
            <a:avLst/>
          </a:prstGeom>
          <a:solidFill>
            <a:srgbClr val="FDF2E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760720" y="3931920"/>
            <a:ext cx="1371600" cy="685800"/>
          </a:xfrm>
          <a:prstGeom prst="rect">
            <a:avLst/>
          </a:prstGeom>
          <a:solidFill>
            <a:srgbClr val="FDF2E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132320" y="3931920"/>
            <a:ext cx="1188720" cy="685800"/>
          </a:xfrm>
          <a:prstGeom prst="rect">
            <a:avLst/>
          </a:prstGeom>
          <a:solidFill>
            <a:srgbClr val="FDF2E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321040" y="3931920"/>
            <a:ext cx="3383280" cy="685800"/>
          </a:xfrm>
          <a:prstGeom prst="rect">
            <a:avLst/>
          </a:prstGeom>
          <a:solidFill>
            <a:srgbClr val="FDF2E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20040" y="3986784"/>
            <a:ext cx="310896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3E50"/>
                </a:solidFill>
                <a:latin typeface="Calibri"/>
              </a:rPr>
              <a:t>OpenSSL 1.0 (EOL)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520440" y="3986784"/>
            <a:ext cx="14630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F8C8D"/>
                </a:solidFill>
                <a:latin typeface="Calibri"/>
              </a:rPr>
              <a:t>Multiple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093208" y="4087368"/>
            <a:ext cx="603504" cy="365760"/>
          </a:xfrm>
          <a:prstGeom prst="rect">
            <a:avLst/>
          </a:prstGeom>
          <a:solidFill>
            <a:srgbClr val="E26B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36576" rIns="73152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8.1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806440" y="3986784"/>
            <a:ext cx="128016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Probable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178040" y="4087368"/>
            <a:ext cx="1097280" cy="365760"/>
          </a:xfrm>
          <a:prstGeom prst="rect">
            <a:avLst/>
          </a:prstGeom>
          <a:solidFill>
            <a:srgbClr val="E26B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36576" rIns="73152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ELEVE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366760" y="3986784"/>
            <a:ext cx="32918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J+7 — Mise a jour OpenSSL 3.x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74320" y="4617720"/>
            <a:ext cx="3200400" cy="685800"/>
          </a:xfrm>
          <a:prstGeom prst="rect">
            <a:avLst/>
          </a:prstGeom>
          <a:solidFill>
            <a:srgbClr val="FDF2E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3474720" y="4617720"/>
            <a:ext cx="1554480" cy="685800"/>
          </a:xfrm>
          <a:prstGeom prst="rect">
            <a:avLst/>
          </a:prstGeom>
          <a:solidFill>
            <a:srgbClr val="FDF2E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029200" y="4617720"/>
            <a:ext cx="731520" cy="685800"/>
          </a:xfrm>
          <a:prstGeom prst="rect">
            <a:avLst/>
          </a:prstGeom>
          <a:solidFill>
            <a:srgbClr val="FDF2E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760720" y="4617720"/>
            <a:ext cx="1371600" cy="685800"/>
          </a:xfrm>
          <a:prstGeom prst="rect">
            <a:avLst/>
          </a:prstGeom>
          <a:solidFill>
            <a:srgbClr val="FDF2E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132320" y="4617720"/>
            <a:ext cx="1188720" cy="685800"/>
          </a:xfrm>
          <a:prstGeom prst="rect">
            <a:avLst/>
          </a:prstGeom>
          <a:solidFill>
            <a:srgbClr val="FDF2E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321040" y="4617720"/>
            <a:ext cx="3383280" cy="685800"/>
          </a:xfrm>
          <a:prstGeom prst="rect">
            <a:avLst/>
          </a:prstGeom>
          <a:solidFill>
            <a:srgbClr val="FDF2E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20040" y="4672584"/>
            <a:ext cx="310896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3E50"/>
                </a:solidFill>
                <a:latin typeface="Calibri"/>
              </a:rPr>
              <a:t>SSH root login actif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520440" y="4672584"/>
            <a:ext cx="14630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F8C8D"/>
                </a:solidFill>
                <a:latin typeface="Calibri"/>
              </a:rPr>
              <a:t>N/A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093208" y="4773168"/>
            <a:ext cx="603504" cy="365760"/>
          </a:xfrm>
          <a:prstGeom prst="rect">
            <a:avLst/>
          </a:prstGeom>
          <a:solidFill>
            <a:srgbClr val="E26B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36576" rIns="73152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7.2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806440" y="4672584"/>
            <a:ext cx="128016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Tres probable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178040" y="4773168"/>
            <a:ext cx="1097280" cy="365760"/>
          </a:xfrm>
          <a:prstGeom prst="rect">
            <a:avLst/>
          </a:prstGeom>
          <a:solidFill>
            <a:srgbClr val="E26B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36576" rIns="73152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ELEVE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366760" y="4672584"/>
            <a:ext cx="32918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J+3 — Appliquer PermitRootLogin no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74320" y="534924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F8C8D"/>
                </a:solidFill>
                <a:latin typeface="Calibri"/>
              </a:rPr>
              <a:t>Note : Matrice complete disponible en annexe — 38 vulnerabilites documentees dans le rapport d'audit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972800" y="6565392"/>
            <a:ext cx="109728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7F8C8D"/>
                </a:solidFill>
                <a:latin typeface="Calibri"/>
              </a:rPr>
              <a:t>6/15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64592" rIns="73152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Phase 2 — Deploiement pfSense 2.7 : Architecture DMZ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4300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1">
                <a:solidFill>
                  <a:srgbClr val="7F8C8D"/>
                </a:solidFill>
                <a:latin typeface="Calibri"/>
              </a:rPr>
              <a:t>Politique deny-all par defaut | 3 interfaces : WAN / LAN / DMZ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536192"/>
            <a:ext cx="2468880" cy="45720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73152" rIns="73152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INTERNET / WAN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2066543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7F8C8D"/>
                </a:solidFill>
                <a:latin typeface="Calibri"/>
              </a:rPr>
              <a:t>v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2377440"/>
            <a:ext cx="2468880" cy="6400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91440" rIns="73152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pfSense 2.7 Firewall</a:t>
            </a:r>
          </a:p>
          <a:p>
            <a:pPr algn="ctr"/>
            <a:r>
              <a:rPr sz="1000" b="0" i="0">
                <a:solidFill>
                  <a:srgbClr val="9BB8E8"/>
                </a:solidFill>
                <a:latin typeface="Calibri"/>
              </a:rPr>
              <a:t>192.168.1.1 / Gateway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309067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0392B"/>
                </a:solidFill>
                <a:latin typeface="Calibri"/>
              </a:rPr>
              <a:t>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9067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7AE60"/>
                </a:solidFill>
                <a:latin typeface="Calibri"/>
              </a:rPr>
              <a:t>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09067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26B0A"/>
                </a:solidFill>
                <a:latin typeface="Calibri"/>
              </a:rPr>
              <a:t>v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3383280"/>
            <a:ext cx="822960" cy="1188720"/>
          </a:xfrm>
          <a:prstGeom prst="rect">
            <a:avLst/>
          </a:prstGeom>
          <a:solidFill>
            <a:srgbClr val="FDEDEC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73152" rIns="73152"/>
          <a:lstStyle/>
          <a:p>
            <a:pPr algn="ctr"/>
            <a:r>
              <a:rPr sz="1300" b="1" i="0">
                <a:solidFill>
                  <a:srgbClr val="C0392B"/>
                </a:solidFill>
                <a:latin typeface="Calibri"/>
              </a:rPr>
              <a:t>DMZ</a:t>
            </a:r>
          </a:p>
          <a:p>
            <a:pPr algn="ctr"/>
            <a:r>
              <a:rPr sz="900" b="0" i="0">
                <a:solidFill>
                  <a:srgbClr val="C0392B"/>
                </a:solidFill>
                <a:latin typeface="Calibri"/>
              </a:rPr>
              <a:t>172.16.0.0</a:t>
            </a:r>
          </a:p>
          <a:p>
            <a:pPr algn="ctr"/>
            <a:r>
              <a:rPr sz="900" b="0" i="0">
                <a:solidFill>
                  <a:srgbClr val="C0392B"/>
                </a:solidFill>
                <a:latin typeface="Calibri"/>
              </a:rPr>
              <a:t>/24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3383280"/>
            <a:ext cx="914400" cy="1188720"/>
          </a:xfrm>
          <a:prstGeom prst="rect">
            <a:avLst/>
          </a:prstGeom>
          <a:solidFill>
            <a:srgbClr val="D5F5E3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73152" rIns="73152"/>
          <a:lstStyle/>
          <a:p>
            <a:pPr algn="ctr"/>
            <a:r>
              <a:rPr sz="1300" b="1" i="0">
                <a:solidFill>
                  <a:srgbClr val="27AE60"/>
                </a:solidFill>
                <a:latin typeface="Calibri"/>
              </a:rPr>
              <a:t>LAN</a:t>
            </a:r>
          </a:p>
          <a:p>
            <a:pPr algn="ctr"/>
            <a:r>
              <a:rPr sz="900" b="0" i="0">
                <a:solidFill>
                  <a:srgbClr val="27AE60"/>
                </a:solidFill>
                <a:latin typeface="Calibri"/>
              </a:rPr>
              <a:t>VLANs</a:t>
            </a:r>
          </a:p>
          <a:p>
            <a:pPr algn="ctr"/>
            <a:r>
              <a:rPr sz="900" b="0" i="0">
                <a:solidFill>
                  <a:srgbClr val="27AE60"/>
                </a:solidFill>
                <a:latin typeface="Calibri"/>
              </a:rPr>
              <a:t>10/20/30/40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0" y="3383280"/>
            <a:ext cx="1005840" cy="1188720"/>
          </a:xfrm>
          <a:prstGeom prst="rect">
            <a:avLst/>
          </a:prstGeom>
          <a:solidFill>
            <a:srgbClr val="EBF2FF"/>
          </a:solidFill>
          <a:ln w="1905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73152" rIns="73152"/>
          <a:lstStyle/>
          <a:p>
            <a:pPr algn="ctr"/>
            <a:r>
              <a:rPr sz="1300" b="1" i="0">
                <a:solidFill>
                  <a:srgbClr val="1B2A4A"/>
                </a:solidFill>
                <a:latin typeface="Calibri"/>
              </a:rPr>
              <a:t>MGMT</a:t>
            </a:r>
          </a:p>
          <a:p>
            <a:pPr algn="ctr"/>
            <a:r>
              <a:rPr sz="900" b="0" i="0">
                <a:solidFill>
                  <a:srgbClr val="1B2A4A"/>
                </a:solidFill>
                <a:latin typeface="Calibri"/>
              </a:rPr>
              <a:t>Admin</a:t>
            </a:r>
          </a:p>
          <a:p>
            <a:pPr algn="ctr"/>
            <a:r>
              <a:rPr sz="900" b="0" i="0">
                <a:solidFill>
                  <a:srgbClr val="1B2A4A"/>
                </a:solidFill>
                <a:latin typeface="Calibri"/>
              </a:rPr>
              <a:t>VLAN 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" y="4663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F8C8D"/>
                </a:solidFill>
                <a:latin typeface="Calibri"/>
              </a:rPr>
              <a:t>Architecture 3 zones securisees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46120" y="1508760"/>
            <a:ext cx="4069080" cy="32918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rIns="73152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Configuration des interfaces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46120" y="1837944"/>
            <a:ext cx="4069080" cy="2002536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rIns="73152"/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  Interface WAN : DHCP depuis routeur FAI</a:t>
            </a:r>
          </a:p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  Interface LAN : 192.168.1.1/24</a:t>
            </a:r>
          </a:p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  Interface DMZ : 172.16.0.1/24</a:t>
            </a:r>
          </a:p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  VLAN tagging : 802.1q sur interface LAN</a:t>
            </a:r>
          </a:p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  NAT : masquerading sortant WAN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46120" y="4005072"/>
            <a:ext cx="4069080" cy="32918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rIns="73152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Regles de filtrage cles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6120" y="4334256"/>
            <a:ext cx="4069080" cy="1956816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rIns="73152"/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  Deny ALL entrant/sortant par defaut</a:t>
            </a:r>
          </a:p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  Allow HTTP/HTTPS  DMZ -&gt; WAN</a:t>
            </a:r>
          </a:p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  Allow DNS  LAN -&gt; pfSense</a:t>
            </a:r>
          </a:p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  Block DMZ -&gt; LAN (isolation totale)</a:t>
            </a:r>
          </a:p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  IDS/IPS Snort actif sur WAN</a:t>
            </a:r>
          </a:p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  Logs centralises via syslog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43800" y="1508760"/>
            <a:ext cx="4343400" cy="329184"/>
          </a:xfrm>
          <a:prstGeom prst="rect">
            <a:avLst/>
          </a:prstGeom>
          <a:solidFill>
            <a:srgbClr val="223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rIns="73152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Equipements par zone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43800" y="1837944"/>
            <a:ext cx="4343400" cy="445312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rIns="73152"/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  DMZ — 172.16.0.0/24 :</a:t>
            </a:r>
          </a:p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    172.16.0.10  Serveur Web Apache 2.4</a:t>
            </a:r>
          </a:p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    172.16.0.11  Serveur Mail Postfix</a:t>
            </a:r>
          </a:p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    Reverse proxy : HAProxy + TLS</a:t>
            </a:r>
          </a:p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  LAN — VLANs segmentes :</a:t>
            </a:r>
          </a:p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    VLAN 10 — 192.168.10.0/24  Admin</a:t>
            </a:r>
          </a:p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    VLAN 20 — 192.168.20.0/24  Profs</a:t>
            </a:r>
          </a:p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    VLAN 30 — 192.168.30.0/23  Etudiants</a:t>
            </a:r>
          </a:p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    VLAN 40 — 192.168.40.0/24  Serveurs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565392"/>
            <a:ext cx="109728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7F8C8D"/>
                </a:solidFill>
                <a:latin typeface="Calibri"/>
              </a:rPr>
              <a:t>7/15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64592" rIns="73152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Phase 3 — Durcissement Linux : CIS Benchmark Ubuntu 22.04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4300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1">
                <a:solidFill>
                  <a:srgbClr val="7F8C8D"/>
                </a:solidFill>
                <a:latin typeface="Calibri"/>
              </a:rPr>
              <a:t>CIS Level 1 &amp; 2 | Lynis : 58 -&gt; 79 / 100 | 53 controles appliques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50876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  <a:latin typeface="Calibri"/>
              </a:rPr>
              <a:t>Avant 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89280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  <a:latin typeface="Calibri"/>
              </a:rPr>
              <a:t>Apres :</a:t>
            </a:r>
          </a:p>
        </p:txBody>
      </p:sp>
      <p:sp>
        <p:nvSpPr>
          <p:cNvPr id="7" name="Rectangle 6"/>
          <p:cNvSpPr/>
          <p:nvPr/>
        </p:nvSpPr>
        <p:spPr>
          <a:xfrm>
            <a:off x="1737360" y="1508760"/>
            <a:ext cx="5669280" cy="256032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737360" y="1508760"/>
            <a:ext cx="3288182" cy="2560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737360" y="1892808"/>
            <a:ext cx="5669280" cy="256032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37360" y="1892808"/>
            <a:ext cx="4478731" cy="25603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79" y="150876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  <a:latin typeface="Calibri"/>
              </a:rPr>
              <a:t>58/100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1892808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  <a:latin typeface="Calibri"/>
              </a:rPr>
              <a:t>79/100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1691640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  <a:latin typeface="Calibri"/>
              </a:rPr>
              <a:t>+21 pts  |  +36%  |  CIS L2 : 89%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377440"/>
            <a:ext cx="2834640" cy="32918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rIns="73152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Gestion des comptes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706624"/>
            <a:ext cx="2834640" cy="358444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rIns="73152"/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  UID 0 unique (root seulement)</a:t>
            </a:r>
          </a:p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  Desactivation compte invite</a:t>
            </a:r>
          </a:p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  minlen=12, complexity activee</a:t>
            </a:r>
          </a:p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  PASS_MAX_DAYS=90</a:t>
            </a:r>
          </a:p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  Audit comptes sans mot de passe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39719" y="2377440"/>
            <a:ext cx="2834640" cy="32918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rIns="73152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Services reseau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39719" y="2706624"/>
            <a:ext cx="2834640" cy="358444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rIns="73152"/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  Desactivation NIS / NFS si inutile</a:t>
            </a:r>
          </a:p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  Desactivation Telnet / rsh / rlogin</a:t>
            </a:r>
          </a:p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  SSH : PermitRootLogin no</a:t>
            </a:r>
          </a:p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  SSH : Protocol 2 uniquement</a:t>
            </a:r>
          </a:p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  Firewall UFW active et configure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05118" y="2377440"/>
            <a:ext cx="2834640" cy="32918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rIns="73152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Systeme de fichiers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05118" y="2706624"/>
            <a:ext cx="2834640" cy="358444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rIns="73152"/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  /tmp separee — noexec, nosuid</a:t>
            </a:r>
          </a:p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  Sticky bit repertoires world-write</a:t>
            </a:r>
          </a:p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  Permissions /etc/passwd shadow</a:t>
            </a:r>
          </a:p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  Audit fichiers SUID / SGID</a:t>
            </a:r>
          </a:p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  Montage /proc : hidepid=2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70517" y="2377440"/>
            <a:ext cx="2834640" cy="329184"/>
          </a:xfrm>
          <a:prstGeom prst="rect">
            <a:avLst/>
          </a:prstGeom>
          <a:solidFill>
            <a:srgbClr val="223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rIns="73152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Logging &amp; Audit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70517" y="2706624"/>
            <a:ext cx="2834640" cy="358444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rIns="73152"/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  rsyslog configure et actif</a:t>
            </a:r>
          </a:p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  auditd : surveillance syscalls</a:t>
            </a:r>
          </a:p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  logrotate : rotation des logs</a:t>
            </a:r>
          </a:p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  Syslog centralise (serveur)</a:t>
            </a:r>
          </a:p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  AIDE installe (IDS fichiers)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6355080"/>
            <a:ext cx="11612880" cy="347472"/>
          </a:xfrm>
          <a:prstGeom prst="rect">
            <a:avLst/>
          </a:prstGeom>
          <a:solidFill>
            <a:srgbClr val="D5F5E3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54864" rIns="73152"/>
          <a:lstStyle/>
          <a:p>
            <a:pPr algn="l"/>
            <a:r>
              <a:rPr sz="1300" b="1" i="0">
                <a:solidFill>
                  <a:srgbClr val="1A7348"/>
                </a:solidFill>
                <a:latin typeface="Calibri"/>
              </a:rPr>
              <a:t>53 controles CIS appliques  |  Lynis : 58 -&gt; 79/100  |  CIS Level 2 : 89% conformite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565392"/>
            <a:ext cx="109728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7F8C8D"/>
                </a:solidFill>
                <a:latin typeface="Calibri"/>
              </a:rPr>
              <a:t>8/15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64592" rIns="73152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Phase 3 — Durcissement Windows Server 2022 : GPOs ANSSI / CIS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4300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1">
                <a:solidFill>
                  <a:srgbClr val="7F8C8D"/>
                </a:solidFill>
                <a:latin typeface="Calibri"/>
              </a:rPr>
              <a:t>CIS-CAT Lite : 41.7% -&gt; 82% | Recommandations ANSSI niveau renforce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50876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  <a:latin typeface="Calibri"/>
              </a:rPr>
              <a:t>Avant 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89280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  <a:latin typeface="Calibri"/>
              </a:rPr>
              <a:t>Apres :</a:t>
            </a:r>
          </a:p>
        </p:txBody>
      </p:sp>
      <p:sp>
        <p:nvSpPr>
          <p:cNvPr id="7" name="Rectangle 6"/>
          <p:cNvSpPr/>
          <p:nvPr/>
        </p:nvSpPr>
        <p:spPr>
          <a:xfrm>
            <a:off x="1737360" y="1508760"/>
            <a:ext cx="5669280" cy="256032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737360" y="1508760"/>
            <a:ext cx="2381097" cy="2560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737360" y="1892808"/>
            <a:ext cx="5669280" cy="256032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37360" y="1892808"/>
            <a:ext cx="4648809" cy="25603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79" y="150876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  <a:latin typeface="Calibri"/>
              </a:rPr>
              <a:t>41.7%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1892808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  <a:latin typeface="Calibri"/>
              </a:rPr>
              <a:t>82.0%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1691640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  <a:latin typeface="Calibri"/>
              </a:rPr>
              <a:t>+40 pts  |  CIS L1 &amp; L2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377440"/>
            <a:ext cx="2834640" cy="32918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rIns="73152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GPOs Securite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706624"/>
            <a:ext cx="2834640" cy="3575303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rIns="73152"/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  Politique mdp : complexity + longueur</a:t>
            </a:r>
          </a:p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  Verrouillage apres 5 echecs</a:t>
            </a:r>
          </a:p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  Expiration : 90 jours</a:t>
            </a:r>
          </a:p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  Banniere de connexion ANSSI</a:t>
            </a:r>
          </a:p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  Restriction Panneau de config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39719" y="2377440"/>
            <a:ext cx="2834640" cy="32918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rIns="73152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Protocoles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39719" y="2706624"/>
            <a:ext cx="2834640" cy="3575303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rIns="73152"/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  Desactivation SMBv1 (MS17-010)</a:t>
            </a:r>
          </a:p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  Desactivation LLMNR / NetBIOS</a:t>
            </a:r>
          </a:p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  Desactivation Telnet client</a:t>
            </a:r>
          </a:p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  WDigest Auth desactive</a:t>
            </a:r>
          </a:p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  TLS 1.0 et 1.1 desactives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05118" y="2377440"/>
            <a:ext cx="2834640" cy="32918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rIns="73152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Controle d'acces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05118" y="2706624"/>
            <a:ext cx="2834640" cy="3575303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rIns="73152"/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  UAC au niveau maximum</a:t>
            </a:r>
          </a:p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  Comptes admin dedies (Tier-0)</a:t>
            </a:r>
          </a:p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  LAPS pour comptes locaux</a:t>
            </a:r>
          </a:p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  Audit logons + objets AD</a:t>
            </a:r>
          </a:p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  Firewall Windows x3 profils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70517" y="2377440"/>
            <a:ext cx="2834640" cy="329184"/>
          </a:xfrm>
          <a:prstGeom prst="rect">
            <a:avLst/>
          </a:prstGeom>
          <a:solidFill>
            <a:srgbClr val="223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rIns="73152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Windows Defender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70517" y="2706624"/>
            <a:ext cx="2834640" cy="3575303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rIns="73152"/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  Protection temps reel active</a:t>
            </a:r>
          </a:p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  Scan planifie hebdomadaire</a:t>
            </a:r>
          </a:p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  ASR rules (Attack Surface)</a:t>
            </a:r>
          </a:p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  Credential Guard active</a:t>
            </a:r>
          </a:p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  AppLocker : whitelist apps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6345936"/>
            <a:ext cx="11612880" cy="347472"/>
          </a:xfrm>
          <a:prstGeom prst="rect">
            <a:avLst/>
          </a:prstGeom>
          <a:solidFill>
            <a:srgbClr val="EBF2FF"/>
          </a:solidFill>
          <a:ln w="127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54864" rIns="73152"/>
          <a:lstStyle/>
          <a:p>
            <a:pPr algn="l"/>
            <a:r>
              <a:rPr sz="1300" b="1" i="0">
                <a:solidFill>
                  <a:srgbClr val="1B2A4A"/>
                </a:solidFill>
                <a:latin typeface="Calibri"/>
              </a:rPr>
              <a:t>CIS-CAT Lite : 41.7% -&gt; 82%  |  ANSSI niveau renforce  |  Conformite AD Tier Model appliquee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565392"/>
            <a:ext cx="109728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7F8C8D"/>
                </a:solidFill>
                <a:latin typeface="Calibri"/>
              </a:rPr>
              <a:t>9/15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64592" rIns="73152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Phase 4 — Tests de Penetration : 12 Tests Documentes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4300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1">
                <a:solidFill>
                  <a:srgbClr val="7F8C8D"/>
                </a:solidFill>
                <a:latin typeface="Calibri"/>
              </a:rPr>
              <a:t>Autorisation formelle obtenue | Methodologie PTES | 12 / 12 PASS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508760"/>
            <a:ext cx="11612880" cy="457200"/>
          </a:xfrm>
          <a:prstGeom prst="rect">
            <a:avLst/>
          </a:prstGeom>
          <a:solidFill>
            <a:srgbClr val="D5F5E3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73152"/>
          <a:lstStyle/>
          <a:p>
            <a:pPr algn="l"/>
            <a:r>
              <a:rPr sz="1300" b="1" i="0">
                <a:solidFill>
                  <a:srgbClr val="1A7348"/>
                </a:solidFill>
                <a:latin typeface="Calibri"/>
              </a:rPr>
              <a:t>Autorisation formelle signee par la direction IRIS Nice — Ref. AUTH-RP05-2026-001 — Document inclus dans les livrables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029968"/>
            <a:ext cx="411480" cy="320040"/>
          </a:xfrm>
          <a:prstGeom prst="rect">
            <a:avLst/>
          </a:prstGeom>
          <a:solidFill>
            <a:srgbClr val="1B2A4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1752" y="2048256"/>
            <a:ext cx="35661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029968"/>
            <a:ext cx="2926080" cy="320040"/>
          </a:xfrm>
          <a:prstGeom prst="rect">
            <a:avLst/>
          </a:prstGeom>
          <a:solidFill>
            <a:srgbClr val="1B2A4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2048256"/>
            <a:ext cx="287121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Test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11880" y="2029968"/>
            <a:ext cx="1645920" cy="320040"/>
          </a:xfrm>
          <a:prstGeom prst="rect">
            <a:avLst/>
          </a:prstGeom>
          <a:solidFill>
            <a:srgbClr val="1B2A4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9312" y="2048256"/>
            <a:ext cx="15910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Outil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57800" y="2029968"/>
            <a:ext cx="1005840" cy="320040"/>
          </a:xfrm>
          <a:prstGeom prst="rect">
            <a:avLst/>
          </a:prstGeom>
          <a:solidFill>
            <a:srgbClr val="1B2A4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85232" y="2048256"/>
            <a:ext cx="95097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2029968"/>
            <a:ext cx="5532120" cy="320040"/>
          </a:xfrm>
          <a:prstGeom prst="rect">
            <a:avLst/>
          </a:prstGeom>
          <a:solidFill>
            <a:srgbClr val="1B2A4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91072" y="2048256"/>
            <a:ext cx="54772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350008"/>
            <a:ext cx="41148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2350008"/>
            <a:ext cx="292608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11880" y="2350008"/>
            <a:ext cx="164592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257800" y="2350008"/>
            <a:ext cx="100584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2350008"/>
            <a:ext cx="553212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1752" y="2386584"/>
            <a:ext cx="3566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7F8C8D"/>
                </a:solidFill>
                <a:latin typeface="Calibri"/>
              </a:rPr>
              <a:t>T01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386584"/>
            <a:ext cx="28529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Scan de reconnaissance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48456" y="2386584"/>
            <a:ext cx="15727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F8C8D"/>
                </a:solidFill>
                <a:latin typeface="Calibri"/>
              </a:rPr>
              <a:t>Nmap + NSE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12664" y="2395728"/>
            <a:ext cx="896112" cy="25603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27432" rIns="73152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PASS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0216" y="2386584"/>
            <a:ext cx="54589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Aucune info critique exposee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2688336"/>
            <a:ext cx="411480" cy="338328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5800" y="2688336"/>
            <a:ext cx="2926080" cy="338328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11880" y="2688336"/>
            <a:ext cx="1645920" cy="338328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257800" y="2688336"/>
            <a:ext cx="1005840" cy="338328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63640" y="2688336"/>
            <a:ext cx="5532120" cy="338328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1752" y="2724912"/>
            <a:ext cx="3566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7F8C8D"/>
                </a:solidFill>
                <a:latin typeface="Calibri"/>
              </a:rPr>
              <a:t>T02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" y="2724912"/>
            <a:ext cx="28529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Test SMBv1 / EternalBlue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48456" y="2724912"/>
            <a:ext cx="15727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F8C8D"/>
                </a:solidFill>
                <a:latin typeface="Calibri"/>
              </a:rPr>
              <a:t>Metasploit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12664" y="2734056"/>
            <a:ext cx="896112" cy="25603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27432" rIns="73152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PASS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0216" y="2724912"/>
            <a:ext cx="54589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Patch MS17-010 applique — OK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3026663"/>
            <a:ext cx="41148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85800" y="3026663"/>
            <a:ext cx="292608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611880" y="3026663"/>
            <a:ext cx="164592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257800" y="3026663"/>
            <a:ext cx="100584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63640" y="3026663"/>
            <a:ext cx="553212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01752" y="3063239"/>
            <a:ext cx="3566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7F8C8D"/>
                </a:solidFill>
                <a:latin typeface="Calibri"/>
              </a:rPr>
              <a:t>T03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2376" y="3063239"/>
            <a:ext cx="28529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Brute force SSH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48456" y="3063239"/>
            <a:ext cx="15727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F8C8D"/>
                </a:solidFill>
                <a:latin typeface="Calibri"/>
              </a:rPr>
              <a:t>Hydra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312664" y="3072383"/>
            <a:ext cx="896112" cy="25603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27432" rIns="73152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PASS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00216" y="3063239"/>
            <a:ext cx="54589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Fail2ban — blocage apres 5 tentatives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3364991"/>
            <a:ext cx="411480" cy="338328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85800" y="3364991"/>
            <a:ext cx="2926080" cy="338328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611880" y="3364991"/>
            <a:ext cx="1645920" cy="338328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257800" y="3364991"/>
            <a:ext cx="1005840" cy="338328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63640" y="3364991"/>
            <a:ext cx="5532120" cy="338328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01752" y="3401567"/>
            <a:ext cx="3566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7F8C8D"/>
                </a:solidFill>
                <a:latin typeface="Calibri"/>
              </a:rPr>
              <a:t>T04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22376" y="3401567"/>
            <a:ext cx="28529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Elev. privileges Linux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48456" y="3401567"/>
            <a:ext cx="15727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F8C8D"/>
                </a:solidFill>
                <a:latin typeface="Calibri"/>
              </a:rPr>
              <a:t>GTFOBins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312664" y="3410711"/>
            <a:ext cx="896112" cy="25603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27432" rIns="73152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PASS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00216" y="3401567"/>
            <a:ext cx="54589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Sudo configure — SUID nettoyes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4320" y="3703320"/>
            <a:ext cx="41148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85800" y="3703320"/>
            <a:ext cx="292608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611880" y="3703320"/>
            <a:ext cx="164592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257800" y="3703320"/>
            <a:ext cx="100584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263640" y="3703320"/>
            <a:ext cx="553212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01752" y="3739896"/>
            <a:ext cx="3566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7F8C8D"/>
                </a:solidFill>
                <a:latin typeface="Calibri"/>
              </a:rPr>
              <a:t>T05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2376" y="3739896"/>
            <a:ext cx="28529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Test Telnet switchs Cisco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648456" y="3739896"/>
            <a:ext cx="15727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F8C8D"/>
                </a:solidFill>
                <a:latin typeface="Calibri"/>
              </a:rPr>
              <a:t>Netcat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312664" y="3749040"/>
            <a:ext cx="896112" cy="25603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27432" rIns="73152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PASS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300216" y="3739896"/>
            <a:ext cx="54589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Telnet desactive — SSH v2 oblige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74320" y="4041648"/>
            <a:ext cx="411480" cy="338328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85800" y="4041648"/>
            <a:ext cx="2926080" cy="338328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3611880" y="4041648"/>
            <a:ext cx="1645920" cy="338328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257800" y="4041648"/>
            <a:ext cx="1005840" cy="338328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263640" y="4041648"/>
            <a:ext cx="5532120" cy="338328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1752" y="4078224"/>
            <a:ext cx="3566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7F8C8D"/>
                </a:solidFill>
                <a:latin typeface="Calibri"/>
              </a:rPr>
              <a:t>T06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22376" y="4078224"/>
            <a:ext cx="28529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Pass-the-Hash Windows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648456" y="4078224"/>
            <a:ext cx="15727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F8C8D"/>
                </a:solidFill>
                <a:latin typeface="Calibri"/>
              </a:rPr>
              <a:t>Mimikatz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312664" y="4087368"/>
            <a:ext cx="896112" cy="25603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27432" rIns="73152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PASS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300216" y="4078224"/>
            <a:ext cx="54589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WDigest desactive — Cred. Guard actif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74320" y="4379975"/>
            <a:ext cx="41148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85800" y="4379975"/>
            <a:ext cx="292608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3611880" y="4379975"/>
            <a:ext cx="164592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5257800" y="4379975"/>
            <a:ext cx="100584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263640" y="4379975"/>
            <a:ext cx="553212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01752" y="4416551"/>
            <a:ext cx="3566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7F8C8D"/>
                </a:solidFill>
                <a:latin typeface="Calibri"/>
              </a:rPr>
              <a:t>T07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22376" y="4416551"/>
            <a:ext cx="28529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Injection SQL (intranet)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648456" y="4416551"/>
            <a:ext cx="15727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F8C8D"/>
                </a:solidFill>
                <a:latin typeface="Calibri"/>
              </a:rPr>
              <a:t>SQLMap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312664" y="4425695"/>
            <a:ext cx="896112" cy="25603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27432" rIns="73152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PASS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300216" y="4416551"/>
            <a:ext cx="54589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Requetes preparees — WAF operationnel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74320" y="4718304"/>
            <a:ext cx="411480" cy="338328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685800" y="4718304"/>
            <a:ext cx="2926080" cy="338328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3611880" y="4718304"/>
            <a:ext cx="1645920" cy="338328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5257800" y="4718304"/>
            <a:ext cx="1005840" cy="338328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6263640" y="4718304"/>
            <a:ext cx="5532120" cy="338328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01752" y="4754880"/>
            <a:ext cx="3566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7F8C8D"/>
                </a:solidFill>
                <a:latin typeface="Calibri"/>
              </a:rPr>
              <a:t>T08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" y="4754880"/>
            <a:ext cx="28529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XSS reflechie portail web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648456" y="4754880"/>
            <a:ext cx="15727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F8C8D"/>
                </a:solidFill>
                <a:latin typeface="Calibri"/>
              </a:rPr>
              <a:t>Wapiti + Manuel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312664" y="4764024"/>
            <a:ext cx="896112" cy="25603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27432" rIns="73152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PASS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300216" y="4754880"/>
            <a:ext cx="54589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CSP active + sanitisation entrees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74320" y="5056631"/>
            <a:ext cx="41148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685800" y="5056631"/>
            <a:ext cx="292608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3611880" y="5056631"/>
            <a:ext cx="164592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5257800" y="5056631"/>
            <a:ext cx="100584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6263640" y="5056631"/>
            <a:ext cx="553212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01752" y="5093207"/>
            <a:ext cx="3566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7F8C8D"/>
                </a:solidFill>
                <a:latin typeface="Calibri"/>
              </a:rPr>
              <a:t>T09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22376" y="5093207"/>
            <a:ext cx="28529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VLAN Hopping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648456" y="5093207"/>
            <a:ext cx="15727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F8C8D"/>
                </a:solidFill>
                <a:latin typeface="Calibri"/>
              </a:rPr>
              <a:t>Yersinia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312664" y="5102351"/>
            <a:ext cx="896112" cy="25603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27432" rIns="73152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PASS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300216" y="5093207"/>
            <a:ext cx="54589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DTP desactive — VLAN natif securise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274320" y="5394960"/>
            <a:ext cx="411480" cy="338328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685800" y="5394960"/>
            <a:ext cx="2926080" cy="338328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3611880" y="5394960"/>
            <a:ext cx="1645920" cy="338328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5257800" y="5394960"/>
            <a:ext cx="1005840" cy="338328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6263640" y="5394960"/>
            <a:ext cx="5532120" cy="338328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301752" y="5431536"/>
            <a:ext cx="3566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7F8C8D"/>
                </a:solidFill>
                <a:latin typeface="Calibri"/>
              </a:rPr>
              <a:t>T10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22376" y="5431536"/>
            <a:ext cx="28529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Scan depuis DMZ -&gt; LAN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3648456" y="5431536"/>
            <a:ext cx="15727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F8C8D"/>
                </a:solidFill>
                <a:latin typeface="Calibri"/>
              </a:rPr>
              <a:t>Nmap (depuis DMZ)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5312664" y="5440680"/>
            <a:ext cx="896112" cy="25603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27432" rIns="73152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PASS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300216" y="5431536"/>
            <a:ext cx="54589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pfSense bloque — deny-all valide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274320" y="5733288"/>
            <a:ext cx="41148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685800" y="5733288"/>
            <a:ext cx="292608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3611880" y="5733288"/>
            <a:ext cx="164592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5257800" y="5733288"/>
            <a:ext cx="100584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6263640" y="5733288"/>
            <a:ext cx="553212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01752" y="5769864"/>
            <a:ext cx="3566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7F8C8D"/>
                </a:solidFill>
                <a:latin typeface="Calibri"/>
              </a:rPr>
              <a:t>T11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722376" y="5769864"/>
            <a:ext cx="28529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MITM ARP Poisoning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3648456" y="5769864"/>
            <a:ext cx="15727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F8C8D"/>
                </a:solidFill>
                <a:latin typeface="Calibri"/>
              </a:rPr>
              <a:t>arpspoof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5312664" y="5779008"/>
            <a:ext cx="896112" cy="25603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27432" rIns="73152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PASS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6300216" y="5769864"/>
            <a:ext cx="54589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DAI configure sur switchs Cisco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274320" y="6071616"/>
            <a:ext cx="411480" cy="338328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685800" y="6071616"/>
            <a:ext cx="2926080" cy="338328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3611880" y="6071616"/>
            <a:ext cx="1645920" cy="338328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5257800" y="6071616"/>
            <a:ext cx="1005840" cy="338328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6263640" y="6071616"/>
            <a:ext cx="5532120" cy="338328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301752" y="6108192"/>
            <a:ext cx="3566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7F8C8D"/>
                </a:solidFill>
                <a:latin typeface="Calibri"/>
              </a:rPr>
              <a:t>T12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722376" y="6108192"/>
            <a:ext cx="28529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Audit mdp Active Directory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48456" y="6108192"/>
            <a:ext cx="15727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F8C8D"/>
                </a:solidFill>
                <a:latin typeface="Calibri"/>
              </a:rPr>
              <a:t>BloodHound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5312664" y="6117336"/>
            <a:ext cx="896112" cy="25603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27432" rIns="73152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PASS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6300216" y="6108192"/>
            <a:ext cx="54589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Kerberoast neutr. — mdp forts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0972800" y="6565392"/>
            <a:ext cx="109728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7F8C8D"/>
                </a:solidFill>
                <a:latin typeface="Calibri"/>
              </a:rPr>
              <a:t>10/15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64592" rIns="73152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Phase 4 — Validation : Preuves et PV de Tests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4300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1">
                <a:solidFill>
                  <a:srgbClr val="7F8C8D"/>
                </a:solidFill>
                <a:latin typeface="Calibri"/>
              </a:rPr>
              <a:t>Tous les tests documentes avec captures d'ecran et PV signes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508760"/>
            <a:ext cx="11612880" cy="438912"/>
          </a:xfrm>
          <a:prstGeom prst="rect">
            <a:avLst/>
          </a:prstGeom>
          <a:solidFill>
            <a:srgbClr val="D5F5E3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73152"/>
          <a:lstStyle/>
          <a:p>
            <a:pPr algn="l"/>
            <a:r>
              <a:rPr sz="1300" b="1" i="0">
                <a:solidFill>
                  <a:srgbClr val="1A7348"/>
                </a:solidFill>
                <a:latin typeface="Calibri"/>
              </a:rPr>
              <a:t>PV-RP05-2026 signe par M. Responsable SI  |  12 tests — 12 PASS  |  Date : 25/03/2026  |  Inclus dans le dossier final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029968"/>
            <a:ext cx="365760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2029968"/>
            <a:ext cx="73152" cy="13716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212140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  <a:latin typeface="Calibri"/>
              </a:rPr>
              <a:t>PV de tests signe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2487168"/>
            <a:ext cx="3383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PV-RP05-2026 par direction 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2788920"/>
            <a:ext cx="3383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12 tests / 12 PASS documentes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3090672"/>
            <a:ext cx="3383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Date : 25/03/2026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511296"/>
            <a:ext cx="365760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511296"/>
            <a:ext cx="73152" cy="13716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" y="3602736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  <a:latin typeface="Calibri"/>
              </a:rPr>
              <a:t>Rapport Nmap XML/HTML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" y="3968496"/>
            <a:ext cx="3383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Scan complet 192.168.0.0/16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" y="4270248"/>
            <a:ext cx="3383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847 ports recenses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" y="4572000"/>
            <a:ext cx="3383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Format XML + HTML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992624"/>
            <a:ext cx="365760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4992624"/>
            <a:ext cx="73152" cy="13716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" y="5084064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  <a:latin typeface="Calibri"/>
              </a:rPr>
              <a:t>Rapport OpenVAS PDF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" y="5449824"/>
            <a:ext cx="3383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38 vulnerabilites / CVSS v3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" y="5751576"/>
            <a:ext cx="3383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Tableau de bord criticite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" y="6053328"/>
            <a:ext cx="3383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Export Greenbone PDF complet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51959" y="2029968"/>
            <a:ext cx="365760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51959" y="2029968"/>
            <a:ext cx="73152" cy="13716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16551" y="212140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  <a:latin typeface="Calibri"/>
              </a:rPr>
              <a:t>Preuves pfSense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16551" y="2487168"/>
            <a:ext cx="3383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Captures regles pare-feu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16551" y="2788920"/>
            <a:ext cx="3383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Logs avant/apres config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16551" y="3090672"/>
            <a:ext cx="3383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0 trafic non autorise detecte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51959" y="3511296"/>
            <a:ext cx="365760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51959" y="3511296"/>
            <a:ext cx="73152" cy="13716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16551" y="3602736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  <a:latin typeface="Calibri"/>
              </a:rPr>
              <a:t>Rapport Lynis HTML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16551" y="3968496"/>
            <a:ext cx="3383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Score 58 -&gt; 79/100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16551" y="4270248"/>
            <a:ext cx="3383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53 controles detailles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16551" y="4572000"/>
            <a:ext cx="3383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Captures shell incluses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51959" y="4992624"/>
            <a:ext cx="365760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251959" y="4992624"/>
            <a:ext cx="73152" cy="13716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16551" y="5084064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  <a:latin typeface="Calibri"/>
              </a:rPr>
              <a:t>Rapport CIS-CAT HTML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16551" y="5449824"/>
            <a:ext cx="3383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Windows 41.7% -&gt; 82.0%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16551" y="5751576"/>
            <a:ext cx="3383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441 controles evalues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16551" y="6053328"/>
            <a:ext cx="3383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Rapport HTML pages detaillees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29600" y="2029968"/>
            <a:ext cx="365760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229600" y="2029968"/>
            <a:ext cx="73152" cy="13716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94192" y="212140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  <a:latin typeface="Calibri"/>
              </a:rPr>
              <a:t>12 fiches tests stylo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94192" y="2487168"/>
            <a:ext cx="3383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Format PTES par test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94192" y="2788920"/>
            <a:ext cx="3383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Captures Metasploit/Hydra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94192" y="3090672"/>
            <a:ext cx="3383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Contexte + resultat + preuve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229600" y="3511296"/>
            <a:ext cx="365760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229600" y="3511296"/>
            <a:ext cx="73152" cy="13716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94192" y="3602736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  <a:latin typeface="Calibri"/>
              </a:rPr>
              <a:t>Rapport Wapiti HTML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94192" y="3968496"/>
            <a:ext cx="3383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6 failles detectees / corrigees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94192" y="4270248"/>
            <a:ext cx="3383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Re-scan : 0 vuln. residuelle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94192" y="4572000"/>
            <a:ext cx="3383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Preuves correction incluses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229600" y="4992624"/>
            <a:ext cx="365760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229600" y="4992624"/>
            <a:ext cx="73152" cy="13716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394192" y="5084064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  <a:latin typeface="Calibri"/>
              </a:rPr>
              <a:t>Doc. pfSense Visio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94192" y="5449824"/>
            <a:ext cx="3383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Export config XML pfSense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94192" y="5751576"/>
            <a:ext cx="3383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Regles commentees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94192" y="6053328"/>
            <a:ext cx="3383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Diagramme reseau Visio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74320" y="6464808"/>
            <a:ext cx="11612880" cy="320040"/>
          </a:xfrm>
          <a:prstGeom prst="rect">
            <a:avLst/>
          </a:prstGeom>
          <a:solidFill>
            <a:srgbClr val="D5F5E3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54864" rIns="73152"/>
          <a:lstStyle/>
          <a:p>
            <a:pPr algn="l"/>
            <a:r>
              <a:rPr sz="1200" b="1" i="0">
                <a:solidFill>
                  <a:srgbClr val="1A7348"/>
                </a:solidFill>
                <a:latin typeface="Calibri"/>
              </a:rPr>
              <a:t>9 livrables produits  |  Tous les tests PASS  |  PV signe par direction  |  Corrections verifiees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972800" y="6565392"/>
            <a:ext cx="109728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7F8C8D"/>
                </a:solidFill>
                <a:latin typeface="Calibri"/>
              </a:rPr>
              <a:t>11/15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64592" rIns="73152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Architecture Finale — Avant / Apres Securisation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4300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1">
                <a:solidFill>
                  <a:srgbClr val="7F8C8D"/>
                </a:solidFill>
                <a:latin typeface="Calibri"/>
              </a:rPr>
              <a:t>Transformation complete de l'infrastructure en 6 semaines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508760"/>
            <a:ext cx="5486400" cy="3657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2704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   AVANT — Architecture non securisee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874519"/>
            <a:ext cx="5486400" cy="4416552"/>
          </a:xfrm>
          <a:prstGeom prst="rect">
            <a:avLst/>
          </a:prstGeom>
          <a:solidFill>
            <a:srgbClr val="FDEDEC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 rIns="73152"/>
          <a:lstStyle/>
          <a:p>
            <a:pPr algn="l"/>
            <a:r>
              <a:rPr sz="1200" b="0" i="0">
                <a:solidFill>
                  <a:srgbClr val="7B241C"/>
                </a:solidFill>
                <a:latin typeface="Calibri"/>
              </a:rPr>
              <a:t>  Pas de pare-feu dedie (routeur uniquement)</a:t>
            </a:r>
          </a:p>
          <a:p>
            <a:pPr algn="l"/>
            <a:r>
              <a:rPr sz="1200" b="0" i="0">
                <a:solidFill>
                  <a:srgbClr val="7B241C"/>
                </a:solidFill>
                <a:latin typeface="Calibri"/>
              </a:rPr>
              <a:t>  Pas de DMZ — tous services en LAN plat</a:t>
            </a:r>
          </a:p>
          <a:p>
            <a:pPr algn="l"/>
            <a:r>
              <a:rPr sz="1200" b="0" i="0">
                <a:solidFill>
                  <a:srgbClr val="7B241C"/>
                </a:solidFill>
                <a:latin typeface="Calibri"/>
              </a:rPr>
              <a:t>  Telnet actif sur les commutateurs Cisco</a:t>
            </a:r>
          </a:p>
          <a:p>
            <a:pPr algn="l"/>
            <a:r>
              <a:rPr sz="1200" b="0" i="0">
                <a:solidFill>
                  <a:srgbClr val="7B241C"/>
                </a:solidFill>
                <a:latin typeface="Calibri"/>
              </a:rPr>
              <a:t>  SMBv1 active — vulnerable EternalBlue</a:t>
            </a:r>
          </a:p>
          <a:p>
            <a:pPr algn="l"/>
            <a:r>
              <a:rPr sz="1200" b="0" i="0">
                <a:solidFill>
                  <a:srgbClr val="7B241C"/>
                </a:solidFill>
                <a:latin typeface="Calibri"/>
              </a:rPr>
              <a:t>  LLMNR / NetBIOS actifs — MITM possible</a:t>
            </a:r>
          </a:p>
          <a:p>
            <a:pPr algn="l"/>
            <a:r>
              <a:rPr sz="1200" b="0" i="0">
                <a:solidFill>
                  <a:srgbClr val="7B241C"/>
                </a:solidFill>
                <a:latin typeface="Calibri"/>
              </a:rPr>
              <a:t>  Mots de passe par defaut sur equipements</a:t>
            </a:r>
          </a:p>
          <a:p>
            <a:pPr algn="l"/>
            <a:r>
              <a:rPr sz="1200" b="0" i="0">
                <a:solidFill>
                  <a:srgbClr val="7B241C"/>
                </a:solidFill>
                <a:latin typeface="Calibri"/>
              </a:rPr>
              <a:t>  Journalisation absente ou non centralisee</a:t>
            </a:r>
          </a:p>
          <a:p>
            <a:pPr algn="l"/>
            <a:r>
              <a:rPr sz="1200" b="0" i="0">
                <a:solidFill>
                  <a:srgbClr val="7B241C"/>
                </a:solidFill>
                <a:latin typeface="Calibri"/>
              </a:rPr>
              <a:t>  Score CIS-CAT Windows : 41.7%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97880" y="36118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B2A4A"/>
                </a:solidFill>
                <a:latin typeface="Calibri"/>
              </a:rPr>
              <a:t>&gt;&gt;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1508760"/>
            <a:ext cx="5486400" cy="3657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52704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   APRES — Infrastructure securisee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1874519"/>
            <a:ext cx="5486400" cy="4416552"/>
          </a:xfrm>
          <a:prstGeom prst="rect">
            <a:avLst/>
          </a:prstGeom>
          <a:solidFill>
            <a:srgbClr val="D5F5E3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 rIns="73152"/>
          <a:lstStyle/>
          <a:p>
            <a:pPr algn="l"/>
            <a:r>
              <a:rPr sz="1200" b="0" i="0">
                <a:solidFill>
                  <a:srgbClr val="1A6E3A"/>
                </a:solidFill>
                <a:latin typeface="Calibri"/>
              </a:rPr>
              <a:t>  pfSense 2.7 : pare-feu + IDS/IPS Snort actif</a:t>
            </a:r>
          </a:p>
          <a:p>
            <a:pPr algn="l"/>
            <a:r>
              <a:rPr sz="1200" b="0" i="0">
                <a:solidFill>
                  <a:srgbClr val="1A6E3A"/>
                </a:solidFill>
                <a:latin typeface="Calibri"/>
              </a:rPr>
              <a:t>  DMZ isolee : 172.16.0.0/24 (Web + Mail)</a:t>
            </a:r>
          </a:p>
          <a:p>
            <a:pPr algn="l"/>
            <a:r>
              <a:rPr sz="1200" b="0" i="0">
                <a:solidFill>
                  <a:srgbClr val="1A6E3A"/>
                </a:solidFill>
                <a:latin typeface="Calibri"/>
              </a:rPr>
              <a:t>  SSH v2 uniquement sur tous les equipements</a:t>
            </a:r>
          </a:p>
          <a:p>
            <a:pPr algn="l"/>
            <a:r>
              <a:rPr sz="1200" b="0" i="0">
                <a:solidFill>
                  <a:srgbClr val="1A6E3A"/>
                </a:solidFill>
                <a:latin typeface="Calibri"/>
              </a:rPr>
              <a:t>  SMBv1 desactive — Patch MS17-010 applique</a:t>
            </a:r>
          </a:p>
          <a:p>
            <a:pPr algn="l"/>
            <a:r>
              <a:rPr sz="1200" b="0" i="0">
                <a:solidFill>
                  <a:srgbClr val="1A6E3A"/>
                </a:solidFill>
                <a:latin typeface="Calibri"/>
              </a:rPr>
              <a:t>  LLMNR desactive — DAI sur switchs Cisco</a:t>
            </a:r>
          </a:p>
          <a:p>
            <a:pPr algn="l"/>
            <a:r>
              <a:rPr sz="1200" b="0" i="0">
                <a:solidFill>
                  <a:srgbClr val="1A6E3A"/>
                </a:solidFill>
                <a:latin typeface="Calibri"/>
              </a:rPr>
              <a:t>  LAPS + GPOs : politiques mdp strictes</a:t>
            </a:r>
          </a:p>
          <a:p>
            <a:pPr algn="l"/>
            <a:r>
              <a:rPr sz="1200" b="0" i="0">
                <a:solidFill>
                  <a:srgbClr val="1A6E3A"/>
                </a:solidFill>
                <a:latin typeface="Calibri"/>
              </a:rPr>
              <a:t>  Syslog centralise + auditd Linux configure</a:t>
            </a:r>
          </a:p>
          <a:p>
            <a:pPr algn="l"/>
            <a:r>
              <a:rPr sz="1200" b="0" i="0">
                <a:solidFill>
                  <a:srgbClr val="1A6E3A"/>
                </a:solidFill>
                <a:latin typeface="Calibri"/>
              </a:rPr>
              <a:t>  Score CIS-CAT Windows : 82% / Lynis : 79/100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565392"/>
            <a:ext cx="109728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7F8C8D"/>
                </a:solidFill>
                <a:latin typeface="Calibri"/>
              </a:rPr>
              <a:t>12/15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64592" rIns="73152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Plan d'Action Residuel — Risques Non Corriges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4300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1">
                <a:solidFill>
                  <a:srgbClr val="7F8C8D"/>
                </a:solidFill>
                <a:latin typeface="Calibri"/>
              </a:rPr>
              <a:t>14 risques residuels classes par priorite | Planning Q2 / Q3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508760"/>
            <a:ext cx="3474720" cy="347472"/>
          </a:xfrm>
          <a:prstGeom prst="rect">
            <a:avLst/>
          </a:prstGeom>
          <a:solidFill>
            <a:srgbClr val="1B2A4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10896" y="1527048"/>
            <a:ext cx="34015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Risque residuel</a:t>
            </a:r>
          </a:p>
        </p:txBody>
      </p:sp>
      <p:sp>
        <p:nvSpPr>
          <p:cNvPr id="7" name="Rectangle 6"/>
          <p:cNvSpPr/>
          <p:nvPr/>
        </p:nvSpPr>
        <p:spPr>
          <a:xfrm>
            <a:off x="3749040" y="1508760"/>
            <a:ext cx="1188720" cy="347472"/>
          </a:xfrm>
          <a:prstGeom prst="rect">
            <a:avLst/>
          </a:prstGeom>
          <a:solidFill>
            <a:srgbClr val="1B2A4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85616" y="1527048"/>
            <a:ext cx="11155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Niveau</a:t>
            </a:r>
          </a:p>
        </p:txBody>
      </p:sp>
      <p:sp>
        <p:nvSpPr>
          <p:cNvPr id="9" name="Rectangle 8"/>
          <p:cNvSpPr/>
          <p:nvPr/>
        </p:nvSpPr>
        <p:spPr>
          <a:xfrm>
            <a:off x="4937760" y="1508760"/>
            <a:ext cx="1371600" cy="347472"/>
          </a:xfrm>
          <a:prstGeom prst="rect">
            <a:avLst/>
          </a:prstGeom>
          <a:solidFill>
            <a:srgbClr val="1B2A4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74336" y="1527048"/>
            <a:ext cx="12984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Charge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508760"/>
            <a:ext cx="1371600" cy="347472"/>
          </a:xfrm>
          <a:prstGeom prst="rect">
            <a:avLst/>
          </a:prstGeom>
          <a:solidFill>
            <a:srgbClr val="1B2A4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45936" y="1527048"/>
            <a:ext cx="12984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Responsable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0" y="1508760"/>
            <a:ext cx="4023360" cy="347472"/>
          </a:xfrm>
          <a:prstGeom prst="rect">
            <a:avLst/>
          </a:prstGeom>
          <a:solidFill>
            <a:srgbClr val="1B2A4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17536" y="1527048"/>
            <a:ext cx="39502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Echeance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856231"/>
            <a:ext cx="34747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749040" y="1856231"/>
            <a:ext cx="11887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37760" y="1856231"/>
            <a:ext cx="13716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1856231"/>
            <a:ext cx="13716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80960" y="1856231"/>
            <a:ext cx="40233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1929383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3E50"/>
                </a:solidFill>
                <a:latin typeface="Calibri"/>
              </a:rPr>
              <a:t>MFA non deploye sur VPN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0" y="1947671"/>
            <a:ext cx="1005840" cy="365760"/>
          </a:xfrm>
          <a:prstGeom prst="rect">
            <a:avLst/>
          </a:prstGeom>
          <a:solidFill>
            <a:srgbClr val="E26B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54864" rIns="73152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MOYEN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83480" y="1929383"/>
            <a:ext cx="1280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3E50"/>
                </a:solidFill>
                <a:latin typeface="Calibri"/>
              </a:rPr>
              <a:t>3 j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1929383"/>
            <a:ext cx="1280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3E50"/>
                </a:solidFill>
                <a:latin typeface="Calibri"/>
              </a:rPr>
              <a:t>DSI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26680" y="1929383"/>
            <a:ext cx="3931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Q2 2026 — Avril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2404872"/>
            <a:ext cx="3474720" cy="54864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749040" y="2404872"/>
            <a:ext cx="1188720" cy="54864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37760" y="2404872"/>
            <a:ext cx="1371600" cy="54864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09360" y="2404872"/>
            <a:ext cx="1371600" cy="54864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680960" y="2404872"/>
            <a:ext cx="4023360" cy="54864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" y="2478024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3E50"/>
                </a:solidFill>
                <a:latin typeface="Calibri"/>
              </a:rPr>
              <a:t>Vulnerability Management absent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840480" y="2496312"/>
            <a:ext cx="1005840" cy="365760"/>
          </a:xfrm>
          <a:prstGeom prst="rect">
            <a:avLst/>
          </a:prstGeom>
          <a:solidFill>
            <a:srgbClr val="E26B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54864" rIns="73152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MOYEN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83480" y="2478024"/>
            <a:ext cx="1280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3E50"/>
                </a:solidFill>
                <a:latin typeface="Calibri"/>
              </a:rPr>
              <a:t>5 j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2478024"/>
            <a:ext cx="1280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3E50"/>
                </a:solidFill>
                <a:latin typeface="Calibri"/>
              </a:rPr>
              <a:t>DSI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26680" y="2478024"/>
            <a:ext cx="3931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Q2 2026 — Mai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2953511"/>
            <a:ext cx="34747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749040" y="2953511"/>
            <a:ext cx="11887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937760" y="2953511"/>
            <a:ext cx="13716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09360" y="2953511"/>
            <a:ext cx="13716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680960" y="2953511"/>
            <a:ext cx="40233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0040" y="3026663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3E50"/>
                </a:solidFill>
                <a:latin typeface="Calibri"/>
              </a:rPr>
              <a:t>SIEM non configure (Wazuh/ELK)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840480" y="3044951"/>
            <a:ext cx="1005840" cy="365760"/>
          </a:xfrm>
          <a:prstGeom prst="rect">
            <a:avLst/>
          </a:prstGeom>
          <a:solidFill>
            <a:srgbClr val="E26B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54864" rIns="73152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MOYEN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83480" y="3026663"/>
            <a:ext cx="1280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3E50"/>
                </a:solidFill>
                <a:latin typeface="Calibri"/>
              </a:rPr>
              <a:t>7 j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5080" y="3026663"/>
            <a:ext cx="1280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3E50"/>
                </a:solidFill>
                <a:latin typeface="Calibri"/>
              </a:rPr>
              <a:t>DSI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26680" y="3026663"/>
            <a:ext cx="3931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Q2 2026 — Juin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3502151"/>
            <a:ext cx="3474720" cy="54864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749040" y="3502151"/>
            <a:ext cx="1188720" cy="54864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937760" y="3502151"/>
            <a:ext cx="1371600" cy="54864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309360" y="3502151"/>
            <a:ext cx="1371600" cy="54864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680960" y="3502151"/>
            <a:ext cx="4023360" cy="54864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20040" y="3575303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3E50"/>
                </a:solidFill>
                <a:latin typeface="Calibri"/>
              </a:rPr>
              <a:t>Backup chiffre non en place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840480" y="3593591"/>
            <a:ext cx="1005840" cy="36576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54864" rIns="73152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MOYEN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983480" y="3575303"/>
            <a:ext cx="1280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3E50"/>
                </a:solidFill>
                <a:latin typeface="Calibri"/>
              </a:rPr>
              <a:t>4 j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55080" y="3575303"/>
            <a:ext cx="1280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3E50"/>
                </a:solidFill>
                <a:latin typeface="Calibri"/>
              </a:rPr>
              <a:t>DSI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26680" y="3575303"/>
            <a:ext cx="3931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Q2 2026 — Mai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4050791"/>
            <a:ext cx="34747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749040" y="4050791"/>
            <a:ext cx="11887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937760" y="4050791"/>
            <a:ext cx="13716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309360" y="4050791"/>
            <a:ext cx="13716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680960" y="4050791"/>
            <a:ext cx="40233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20040" y="4123943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3E50"/>
                </a:solidFill>
                <a:latin typeface="Calibri"/>
              </a:rPr>
              <a:t>NAC 802.1X Wi-Fi absent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840480" y="4142231"/>
            <a:ext cx="1005840" cy="36576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54864" rIns="73152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MOYEN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983480" y="4123943"/>
            <a:ext cx="1280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3E50"/>
                </a:solidFill>
                <a:latin typeface="Calibri"/>
              </a:rPr>
              <a:t>5 j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355080" y="4123943"/>
            <a:ext cx="1280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3E50"/>
                </a:solidFill>
                <a:latin typeface="Calibri"/>
              </a:rPr>
              <a:t>Reseau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726680" y="4123943"/>
            <a:ext cx="3931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Q3 2026 — Juillet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74320" y="4599431"/>
            <a:ext cx="3474720" cy="54864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3749040" y="4599431"/>
            <a:ext cx="1188720" cy="54864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937760" y="4599431"/>
            <a:ext cx="1371600" cy="54864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309360" y="4599431"/>
            <a:ext cx="1371600" cy="54864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680960" y="4599431"/>
            <a:ext cx="4023360" cy="54864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20040" y="4672583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3E50"/>
                </a:solidFill>
                <a:latin typeface="Calibri"/>
              </a:rPr>
              <a:t>Formation securite personnel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840480" y="4690871"/>
            <a:ext cx="1005840" cy="3657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54864" rIns="73152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FAIBLE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983480" y="4672583"/>
            <a:ext cx="1280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3E50"/>
                </a:solidFill>
                <a:latin typeface="Calibri"/>
              </a:rPr>
              <a:t>2 j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355080" y="4672583"/>
            <a:ext cx="1280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3E50"/>
                </a:solidFill>
                <a:latin typeface="Calibri"/>
              </a:rPr>
              <a:t>DRH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726680" y="4672583"/>
            <a:ext cx="3931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Q3 2026 — Septembre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74320" y="5166360"/>
            <a:ext cx="11612880" cy="329184"/>
          </a:xfrm>
          <a:prstGeom prst="rect">
            <a:avLst/>
          </a:prstGeom>
          <a:solidFill>
            <a:srgbClr val="223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 rIns="73152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PLANNING : Q2 2026 — MFA, Vuln. Mgmt, SIEM, Backup  |  Q3 2026 — NAC Wi-Fi, Formation securite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74320" y="5577840"/>
            <a:ext cx="116128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 rIns="73152"/>
          <a:lstStyle/>
          <a:p>
            <a:pPr algn="l"/>
            <a:r>
              <a:rPr sz="1300" b="1" i="0">
                <a:solidFill>
                  <a:srgbClr val="2C3E50"/>
                </a:solidFill>
                <a:latin typeface="Calibri"/>
              </a:rPr>
              <a:t>Bilan residuel : 14 risques  (0 critique / 3 eleves / 7 moyens / 4 faibles)</a:t>
            </a:r>
          </a:p>
          <a:p>
            <a:pPr algn="l"/>
            <a:r>
              <a:rPr sz="1200" b="0" i="0">
                <a:solidFill>
                  <a:srgbClr val="7F8C8D"/>
                </a:solidFill>
                <a:latin typeface="Calibri"/>
              </a:rPr>
              <a:t>  Budget estime : 15 000 EUR  |  Charge : 26 jours/homme  |  Sponsor : DSI IRIS Nice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972800" y="6565392"/>
            <a:ext cx="109728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7F8C8D"/>
                </a:solidFill>
                <a:latin typeface="Calibri"/>
              </a:rPr>
              <a:t>13/15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64592" rIns="73152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Bilan Personnel — Competences Acquises et Referencees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4300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1">
                <a:solidFill>
                  <a:srgbClr val="7F8C8D"/>
                </a:solidFill>
                <a:latin typeface="Calibri"/>
              </a:rPr>
              <a:t>RP-05 | Bloc 3 : Cybersecurite des services informatiques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508760"/>
            <a:ext cx="3657600" cy="32918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rIns="73152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Competences BTS SIO — Bloc 3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837944"/>
            <a:ext cx="3657600" cy="4471416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rIns="73152"/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  B3.1 — Protection des donnees clients</a:t>
            </a:r>
          </a:p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  B3.2 — Gestion des incidents securite</a:t>
            </a:r>
          </a:p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  B3.3 — Mesures preventives securite</a:t>
            </a:r>
          </a:p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  B1.3 — Gestion des equipements reseau</a:t>
            </a:r>
          </a:p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  B2.2 — Administration des serveurs</a:t>
            </a:r>
          </a:p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  Certification CIS Controls v8</a:t>
            </a:r>
          </a:p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  Methodologie PTES (pentest)</a:t>
            </a:r>
          </a:p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  Framework ANSSI recommandations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1508760"/>
            <a:ext cx="365760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0" y="1508760"/>
            <a:ext cx="64008" cy="8686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0" y="1600200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libri"/>
              </a:rPr>
              <a:t>Nmap 7.94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2002536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Scan reseau / Discovery / NSE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92440" y="1508760"/>
            <a:ext cx="365760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92440" y="1508760"/>
            <a:ext cx="64008" cy="8686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1600200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7AE60"/>
                </a:solidFill>
                <a:latin typeface="Calibri"/>
              </a:rPr>
              <a:t>OpenVAS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002536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CVE scanning / CVSS v3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0" y="2514600"/>
            <a:ext cx="365760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0" y="2514600"/>
            <a:ext cx="64008" cy="8686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0" y="2606040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libri"/>
              </a:rPr>
              <a:t>Lynis 3.0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3008376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Audit durcissement Unix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92440" y="2514600"/>
            <a:ext cx="365760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223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92440" y="2514600"/>
            <a:ext cx="64008" cy="868680"/>
          </a:xfrm>
          <a:prstGeom prst="rect">
            <a:avLst/>
          </a:prstGeom>
          <a:solidFill>
            <a:srgbClr val="223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20" y="2606040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3860"/>
                </a:solidFill>
                <a:latin typeface="Calibri"/>
              </a:rPr>
              <a:t>CIS-CAT Lite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3008376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Benchmarks CIS L1/L2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0" y="3520440"/>
            <a:ext cx="365760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800" y="3520440"/>
            <a:ext cx="64008" cy="8686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97680" y="3611880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Calibri"/>
              </a:rPr>
              <a:t>Wapiti 3.1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4014216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Tests web OWASP Top 10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92440" y="3520440"/>
            <a:ext cx="365760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92440" y="3520440"/>
            <a:ext cx="64008" cy="8686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75320" y="3611880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Calibri"/>
              </a:rPr>
              <a:t>Metasploit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4014216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Tests de penetration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0" y="4526280"/>
            <a:ext cx="365760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114800" y="4526280"/>
            <a:ext cx="64008" cy="8686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97680" y="4617720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libri"/>
              </a:rPr>
              <a:t>pfSense 2.7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5020056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Firewall / Routeur / IDS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92440" y="4526280"/>
            <a:ext cx="365760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92440" y="4526280"/>
            <a:ext cx="64008" cy="8686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75320" y="4617720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7AE60"/>
                </a:solidFill>
                <a:latin typeface="Calibri"/>
              </a:rPr>
              <a:t>Wireshark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20" y="5020056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Analyse trafic reseau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6419088"/>
            <a:ext cx="11612880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64008" rIns="73152"/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Referentiels : ANSSI PSSIE  |  CIS Controls v8  |  NIST CSF  |  ISO 27001  |  OWASP Testing Guide  |  PTES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6565392"/>
            <a:ext cx="109728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7F8C8D"/>
                </a:solidFill>
                <a:latin typeface="Calibri"/>
              </a:rPr>
              <a:t>14/15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64592" rIns="73152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Conclusion — Recapitulatif et Impact sur l'Infrastructure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4300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1">
                <a:solidFill>
                  <a:srgbClr val="7F8C8D"/>
                </a:solidFill>
                <a:latin typeface="Calibri"/>
              </a:rPr>
              <a:t>RP-05 | IRIS-NICE-2026-RP05 | ANDREO Vincent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508760"/>
            <a:ext cx="1828800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508760"/>
            <a:ext cx="1828800" cy="38404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" y="1572768"/>
            <a:ext cx="16824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L1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984248"/>
            <a:ext cx="16824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Calibri"/>
              </a:rPr>
              <a:t>Rapport d'audit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2368296"/>
            <a:ext cx="16824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complet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40279" y="1508760"/>
            <a:ext cx="1828800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40279" y="1508760"/>
            <a:ext cx="1828800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13431" y="1572768"/>
            <a:ext cx="16824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L2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13431" y="1984248"/>
            <a:ext cx="16824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  <a:latin typeface="Calibri"/>
              </a:rPr>
              <a:t>Matrice des risques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13431" y="2368296"/>
            <a:ext cx="16824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38 vuln.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1508760"/>
            <a:ext cx="1828800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06240" y="1508760"/>
            <a:ext cx="1828800" cy="38404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79392" y="1572768"/>
            <a:ext cx="16824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L3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79392" y="1984248"/>
            <a:ext cx="16824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Calibri"/>
              </a:rPr>
              <a:t>Documentation pfSense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79392" y="2368296"/>
            <a:ext cx="16824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DMZ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017520"/>
            <a:ext cx="1828800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3017520"/>
            <a:ext cx="1828800" cy="38404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" y="3081528"/>
            <a:ext cx="16824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L4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" y="3493008"/>
            <a:ext cx="16824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  <a:latin typeface="Calibri"/>
              </a:rPr>
              <a:t>Rapport Lynis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" y="3877056"/>
            <a:ext cx="16824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58 -&gt; 79/100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40279" y="3017520"/>
            <a:ext cx="1828800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240279" y="3017520"/>
            <a:ext cx="1828800" cy="38404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13431" y="3081528"/>
            <a:ext cx="16824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L5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13431" y="3493008"/>
            <a:ext cx="16824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  <a:latin typeface="Calibri"/>
              </a:rPr>
              <a:t>Rapport CIS-CAT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13431" y="3877056"/>
            <a:ext cx="16824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41.7% -&gt; 82%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06240" y="3017520"/>
            <a:ext cx="1828800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E26B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06240" y="3017520"/>
            <a:ext cx="1828800" cy="384048"/>
          </a:xfrm>
          <a:prstGeom prst="rect">
            <a:avLst/>
          </a:prstGeom>
          <a:solidFill>
            <a:srgbClr val="E26B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79392" y="3081528"/>
            <a:ext cx="16824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L6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79392" y="3493008"/>
            <a:ext cx="16824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26B0A"/>
                </a:solidFill>
                <a:latin typeface="Calibri"/>
              </a:rPr>
              <a:t>Rapport Wapiti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79392" y="3877056"/>
            <a:ext cx="16824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Failles web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4526279"/>
            <a:ext cx="1828800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74320" y="4526279"/>
            <a:ext cx="1828800" cy="38404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7472" y="4590287"/>
            <a:ext cx="16824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L7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7472" y="5001767"/>
            <a:ext cx="16824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  <a:latin typeface="Calibri"/>
              </a:rPr>
              <a:t>PV Tests stylo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7472" y="5385815"/>
            <a:ext cx="16824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12/12 PASS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240279" y="4526279"/>
            <a:ext cx="1828800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240279" y="4526279"/>
            <a:ext cx="1828800" cy="38404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313431" y="4590287"/>
            <a:ext cx="16824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L8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13431" y="5001767"/>
            <a:ext cx="16824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39C12"/>
                </a:solidFill>
                <a:latin typeface="Calibri"/>
              </a:rPr>
              <a:t>Plan d'action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313431" y="5385815"/>
            <a:ext cx="16824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residuel Q2/Q3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06240" y="4526279"/>
            <a:ext cx="1828800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223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206240" y="4526279"/>
            <a:ext cx="1828800" cy="384048"/>
          </a:xfrm>
          <a:prstGeom prst="rect">
            <a:avLst/>
          </a:prstGeom>
          <a:solidFill>
            <a:srgbClr val="223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79392" y="4590287"/>
            <a:ext cx="16824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L9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79392" y="5001767"/>
            <a:ext cx="16824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3860"/>
                </a:solidFill>
                <a:latin typeface="Calibri"/>
              </a:rPr>
              <a:t>Presentation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279392" y="5385815"/>
            <a:ext cx="16824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RP-05 orale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17920" y="1508760"/>
            <a:ext cx="5669280" cy="32918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rIns="73152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Impact mesure sur l'infrastructure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17920" y="1837944"/>
            <a:ext cx="5669280" cy="4133088"/>
          </a:xfrm>
          <a:prstGeom prst="rect">
            <a:avLst/>
          </a:prstGeom>
          <a:solidFill>
            <a:srgbClr val="EBF2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rIns="73152"/>
          <a:lstStyle/>
          <a:p>
            <a:pPr algn="l"/>
            <a:r>
              <a:rPr sz="1300" b="0" i="0">
                <a:solidFill>
                  <a:srgbClr val="2C3E50"/>
                </a:solidFill>
                <a:latin typeface="Calibri"/>
              </a:rPr>
              <a:t>  Score CIS-CAT  : 41.7% -&gt; 82%  (Windows)</a:t>
            </a:r>
          </a:p>
          <a:p>
            <a:pPr algn="l"/>
            <a:r>
              <a:rPr sz="1300" b="0" i="0">
                <a:solidFill>
                  <a:srgbClr val="2C3E50"/>
                </a:solidFill>
                <a:latin typeface="Calibri"/>
              </a:rPr>
              <a:t>  Score Lynis    : 58 -&gt; 79/100  (Linux)</a:t>
            </a:r>
          </a:p>
          <a:p>
            <a:pPr algn="l"/>
            <a:r>
              <a:rPr sz="1300" b="0" i="0">
                <a:solidFill>
                  <a:srgbClr val="2C3E50"/>
                </a:solidFill>
                <a:latin typeface="Calibri"/>
              </a:rPr>
              <a:t>  38 vulnerabilites corrigees (8 critiques)</a:t>
            </a:r>
          </a:p>
          <a:p>
            <a:pPr algn="l"/>
            <a:r>
              <a:rPr sz="1300" b="0" i="0">
                <a:solidFill>
                  <a:srgbClr val="2C3E50"/>
                </a:solidFill>
                <a:latin typeface="Calibri"/>
              </a:rPr>
              <a:t>  12 tests de penetration : 100% PASS</a:t>
            </a:r>
          </a:p>
          <a:p>
            <a:pPr algn="l"/>
            <a:r>
              <a:rPr sz="1300" b="0" i="0">
                <a:solidFill>
                  <a:srgbClr val="2C3E50"/>
                </a:solidFill>
                <a:latin typeface="Calibri"/>
              </a:rPr>
              <a:t>  pfSense deploye : DMZ operationnelle</a:t>
            </a:r>
          </a:p>
          <a:p>
            <a:pPr algn="l"/>
            <a:r>
              <a:rPr sz="1300" b="0" i="0">
                <a:solidFill>
                  <a:srgbClr val="2C3E50"/>
                </a:solidFill>
                <a:latin typeface="Calibri"/>
              </a:rPr>
              <a:t>  Infrastructure conforme CIS Level 2</a:t>
            </a:r>
          </a:p>
          <a:p>
            <a:pPr algn="l"/>
            <a:r>
              <a:rPr sz="1300" b="0" i="0">
                <a:solidFill>
                  <a:srgbClr val="2C3E50"/>
                </a:solidFill>
                <a:latin typeface="Calibri"/>
              </a:rPr>
              <a:t>  9 livrables produits dans les delais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28016" rIns="73152"/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ANDREO Vincent  |  BTS SIO SISR  |  IRIS Nice (Mediaschool)  |  Mars 2026  |  Ref : IRIS-NICE-2026-RP05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972800" y="6565392"/>
            <a:ext cx="109728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7F8C8D"/>
                </a:solidFill>
                <a:latin typeface="Calibri"/>
              </a:rPr>
              <a:t>15/15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